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sample means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Sheet1!$A$2:$A$18</c:f>
              <c:strCache>
                <c:ptCount val="17"/>
                <c:pt idx="0">
                  <c:v>57</c:v>
                </c:pt>
                <c:pt idx="1">
                  <c:v>58</c:v>
                </c:pt>
                <c:pt idx="2">
                  <c:v>59</c:v>
                </c:pt>
                <c:pt idx="3">
                  <c:v>60</c:v>
                </c:pt>
                <c:pt idx="4">
                  <c:v>61</c:v>
                </c:pt>
                <c:pt idx="5">
                  <c:v>62</c:v>
                </c:pt>
                <c:pt idx="6">
                  <c:v>63</c:v>
                </c:pt>
                <c:pt idx="7">
                  <c:v>64</c:v>
                </c:pt>
                <c:pt idx="8">
                  <c:v>65</c:v>
                </c:pt>
                <c:pt idx="9">
                  <c:v>66</c:v>
                </c:pt>
                <c:pt idx="10">
                  <c:v>67</c:v>
                </c:pt>
                <c:pt idx="11">
                  <c:v>68</c:v>
                </c:pt>
                <c:pt idx="12">
                  <c:v>69</c:v>
                </c:pt>
                <c:pt idx="13">
                  <c:v>70</c:v>
                </c:pt>
                <c:pt idx="14">
                  <c:v>71</c:v>
                </c:pt>
                <c:pt idx="15">
                  <c:v>72</c:v>
                </c:pt>
                <c:pt idx="16">
                  <c:v>73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0.0</c:v>
                </c:pt>
                <c:pt idx="1">
                  <c:v>0.22</c:v>
                </c:pt>
                <c:pt idx="2">
                  <c:v>0.66</c:v>
                </c:pt>
                <c:pt idx="3">
                  <c:v>1.78</c:v>
                </c:pt>
                <c:pt idx="4">
                  <c:v>4.26</c:v>
                </c:pt>
                <c:pt idx="5">
                  <c:v>7.24</c:v>
                </c:pt>
                <c:pt idx="6">
                  <c:v>11.9</c:v>
                </c:pt>
                <c:pt idx="7">
                  <c:v>15.86</c:v>
                </c:pt>
                <c:pt idx="8">
                  <c:v>18.66</c:v>
                </c:pt>
                <c:pt idx="9">
                  <c:v>15.16</c:v>
                </c:pt>
                <c:pt idx="10">
                  <c:v>11.9</c:v>
                </c:pt>
                <c:pt idx="11">
                  <c:v>6.98</c:v>
                </c:pt>
                <c:pt idx="12">
                  <c:v>3.34</c:v>
                </c:pt>
                <c:pt idx="13">
                  <c:v>1.42</c:v>
                </c:pt>
                <c:pt idx="14">
                  <c:v>0.48</c:v>
                </c:pt>
                <c:pt idx="15">
                  <c:v>0.1</c:v>
                </c:pt>
                <c:pt idx="16">
                  <c:v>0.04</c:v>
                </c:pt>
              </c:numCache>
            </c:numRef>
          </c:val>
        </c:ser>
        <c:gapWidth val="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sample mean of 30 exam scores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% of the 5,000 samples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error</c:v>
                </c:pt>
              </c:strCache>
            </c:strRef>
          </c:tx>
          <c:spPr>
            <a:solidFill>
              <a:srgbClr val="1F7A78"/>
            </a:solidFill>
          </c:spPr>
          <c:cat>
            <c:strRef>
              <c:f>Sheet1!$A$2:$A$6</c:f>
              <c:strCache>
                <c:ptCount val="5"/>
                <c:pt idx="0">
                  <c:v>n = 5</c:v>
                </c:pt>
                <c:pt idx="1">
                  <c:v>n = 10</c:v>
                </c:pt>
                <c:pt idx="2">
                  <c:v>n = 30</c:v>
                </c:pt>
                <c:pt idx="3">
                  <c:v>n = 100</c:v>
                </c:pt>
                <c:pt idx="4">
                  <c:v>n = 400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5.47</c:v>
                </c:pt>
                <c:pt idx="1">
                  <c:v>3.87</c:v>
                </c:pt>
                <c:pt idx="2">
                  <c:v>2.23</c:v>
                </c:pt>
                <c:pt idx="3">
                  <c:v>1.22</c:v>
                </c:pt>
                <c:pt idx="4">
                  <c:v>0.61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>
                  <a:solidFill>
                    <a:srgbClr val="0F3D3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sample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C6F6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FE5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C6F6E"/>
                    </a:solidFill>
                    <a:latin typeface="Calibri"/>
                  </a:rPr>
                  <a:t>standard error of the mean (σ = 12.2)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C6F6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GUIDE (~60-75 min if you do everything; each section stands alone so you can stop anywhere):</a:t>
            </a:r>
          </a:p>
          <a:p>
            <a:r>
              <a:t>Slides 2-4 population/sample (8 min) | 5-6 sampling distribution (12 min) | 7-8 confidence intervals (12 min) | 9-12 hypothesis tests &amp; p-values (15 min) | 13-15 effect sizes &amp; mistakes (10 min) | 16 group activity.</a:t>
            </a:r>
          </a:p>
          <a:p/>
          <a:p>
            <a:r>
              <a:t>IF YOU ONLY HAVE ~20 MIN left after the presentations: do slides 2, 5, 7 and 9, then hand out the activity.</a:t>
            </a:r>
          </a:p>
          <a:p/>
          <a:p>
            <a:r>
              <a:t>All numbers use the Class 03 campus survey. Tell them: 'Pretend these 518 exam scores are every student in the university.' That way we KNOW the truth and can check our inferences.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'Last class: probability, where we KNEW the machine (a fair die, a 1% disease) and asked what data to expect. Inference runs backwards: we have the data and want to learn about the machine.'</a:t>
            </a:r>
          </a:p>
          <a:p>
            <a:r>
              <a:t>ASK: 'What is the average exam score of every student at this university? How could we find out without testing everyone?'</a:t>
            </a:r>
          </a:p>
          <a:p>
            <a:r>
              <a:t>Take 2-3 answers (survey, sample, ask the registrar). Land on: we look at a few and have to say how sure we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Population in our example: 518 exam scores, mean mu = 64.9, SD sigma = 12.2. This is the 'truth'.</a:t>
            </a:r>
          </a:p>
          <a:p>
            <a:r>
              <a:t>A sample of 40 gave x-bar = 65.1, s = 10.1. Close to the truth but not equal.</a:t>
            </a:r>
          </a:p>
          <a:p>
            <a:r>
              <a:t>KEY LINES: parameter = fixed number about the population (usually unknown); statistic = number computed from the sample (changes every time).</a:t>
            </a:r>
          </a:p>
          <a:p>
            <a:r>
              <a:t>Greek letters for the population, Latin letters for the sample is a handy memory trick.</a:t>
            </a:r>
          </a:p>
          <a:p>
            <a:r>
              <a:t>ASK: 'If I take another sample of 40, will x-bar be the same?' (No: it moves. How much? That is the next slide.)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MESSAGE: how you sample matters more than how many you sample.</a:t>
            </a:r>
          </a:p>
          <a:p>
            <a:r>
              <a:t>STORY: 1936 US presidential election. The Literary Digest magazine mailed a huge survey (millions of replies) and confidently predicted the wrong winner. Their list came from magazine subscribers, car owners and phone directories, which over-represented wealthier voters in the Depression. A much smaller, properly random poll got it right.</a:t>
            </a:r>
          </a:p>
          <a:p>
            <a:r>
              <a:t>ASK: 'Suppose I survey only the students sitting in the front row. Is that random? What could be biased?'</a:t>
            </a:r>
          </a:p>
          <a:p>
            <a:r>
              <a:t>Connect back: Class 03's missing sleep data was also non-random (busy students skipped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DID: pretend we repeat the study 5,000 times. Each time draw 30 students at random and write down the sample mean. This chart is the histogram of those 5,000 means.</a:t>
            </a:r>
          </a:p>
          <a:p>
            <a:r>
              <a:t>POINT 1: it is centred on the truth (64.9): sample means are not systematically too high or low.</a:t>
            </a:r>
          </a:p>
          <a:p>
            <a:r>
              <a:t>POINT 2: it is much narrower than the population itself (SD of the means = 2.3 vs population SD 12.2).</a:t>
            </a:r>
          </a:p>
          <a:p>
            <a:r>
              <a:t>POINT 3: it is bell-shaped: that is the Central Limit Theorem from last class.</a:t>
            </a:r>
          </a:p>
          <a:p>
            <a:r>
              <a:t>ASK: 'In real life do we get to draw 5,000 samples?' (No! We get one. The theory tells us what the other 4,999 would look like.)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DEFINITION: the standard error (SE) is the standard deviation of the sampling distribution: how far a sample mean typically lands from the truth.</a:t>
            </a:r>
          </a:p>
          <a:p>
            <a:r>
              <a:t>FORMULA: SE = sigma / sqrt(n). With sigma = 12.2: n=5 gives 5.5, n=30 gives 2.2, n=100 gives 1.2.</a:t>
            </a:r>
          </a:p>
          <a:p>
            <a:r>
              <a:t>KEY CONSEQUENCE: diminishing returns. Four times as much data only halves the error. Going from 100 to 400 students costs a lot more than 5 to 20.</a:t>
            </a:r>
          </a:p>
          <a:p>
            <a:r>
              <a:t>WARNING: SD describes the spread of individual data; SE describes the precision of an estimate. Students mix these up constantly.</a:t>
            </a:r>
          </a:p>
          <a:p>
            <a:r>
              <a:t>ASK: 'To cut our error in a third, how much more data do we need?' (9 times.)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 SEE: 20 different random samples of 30 students. For each we computed a 95% confidence interval. The dashed line is the true mean (64.9), which we know only because we are pretending the 518 scores are everyone.</a:t>
            </a:r>
          </a:p>
          <a:p>
            <a:r>
              <a:t>19 of the 20 intervals catch the truth, 1 (red) missed. That is what '95%' means: the METHOD works about 95% of the time in the long run.</a:t>
            </a:r>
          </a:p>
          <a:p>
            <a:r>
              <a:t>LANGUAGE TRAP: after you compute ONE interval, it either contains the truth or it does not. We do not say 'there is a 95% chance mu is in here'. We say 'we used a method that captures the truth 95% of the time'.</a:t>
            </a:r>
          </a:p>
          <a:p>
            <a:r>
              <a:t>ASK: 'Which would you prefer: a 99% interval or a 95% one? What is the price?' (Wider, less precise.)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EXAMPLE: one random sample of 40 scores: x-bar = 65.1, s = 10.1.</a:t>
            </a:r>
          </a:p>
          <a:p>
            <a:r>
              <a:t>SE = s/sqrt(40) = 1.60.  t* (39 df, 95%) = 2.02.  Margin of error = 3.24.  Interval = [61.9, 68.4].</a:t>
            </a:r>
          </a:p>
          <a:p>
            <a:r>
              <a:t>CHECK: true mean 64.9 is inside the interval.</a:t>
            </a:r>
          </a:p>
          <a:p>
            <a:r>
              <a:t>WHY t AND NOT z: we had to estimate sigma with s, which adds uncertainty, so t has slightly fatter tails. For n &gt; 30 it is almost the same as 1.96.</a:t>
            </a:r>
          </a:p>
          <a:p>
            <a:r>
              <a:t>ASK: 'If I take 4x as many students, what happens to the margin of error?' (Halves.)</a:t>
            </a:r>
          </a:p>
          <a:p>
            <a:r>
              <a:t>Reading aloud the correct sentence is worth practising: 'We are 95% confident that the true mean is between ... and ...'.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COURTROOM ANALOGY: H0 is 'innocent until proven guilty'. We assume nothing is going on, then ask whether the evidence is so surprising under that assumption that we reject it.</a:t>
            </a:r>
          </a:p>
          <a:p>
            <a:r>
              <a:t>'Fail to reject' is NOT 'proved H0 true', exactly like 'not guilty' is not 'innocent'. Insufficient evidence is not evidence of absence.</a:t>
            </a:r>
          </a:p>
          <a:p>
            <a:r>
              <a:t>THE 5 STEPS are the template for every test they will ever do (t-test, chi-square, anova, ...).</a:t>
            </a:r>
          </a:p>
          <a:p>
            <a:r>
              <a:t>ASK: 'Claim: students with heavy jobs score lower. What is H0? What is H1?' H0: the mean scores are equal. H1: they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QUESTION: do students who work more than 15 hours a week score differently from students with no job?</a:t>
            </a:r>
          </a:p>
          <a:p>
            <a:r>
              <a:t>DATA: no job n = 277, mean 67.2; heavy job n = 108, mean 58.4. Difference = 8.8 points.</a:t>
            </a:r>
          </a:p>
          <a:p>
            <a:r>
              <a:t>Welch two-sample t-test: t = 5.9, p = 1.6e-08. 95% CI for the difference: [5.9, 11.6].</a:t>
            </a:r>
          </a:p>
          <a:p>
            <a:r>
              <a:t>INTERPRET: if heavy jobs made NO difference, a gap this big would almost never come from sampling luck alone. So we reject H0.</a:t>
            </a:r>
          </a:p>
          <a:p>
            <a:r>
              <a:t>CAUTION: this is observational: heavy workers also sleep less (Class 03). A small p does not say jobs CAUSE lower scores.</a:t>
            </a:r>
          </a:p>
          <a:p>
            <a:r>
              <a:t>Code: scipy.stats.ttest_ind(a, b, equal_var=False).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DEFINITION IN PLAIN WORDS: 'Assume nothing is going on. How often would luck alone produce a result at least this extreme?' That fraction is the p-value.</a:t>
            </a:r>
          </a:p>
          <a:p>
            <a:r>
              <a:t>p = 0.03 means: IF H0 were true, about 3% of studies would show a gap this big or bigger.</a:t>
            </a:r>
          </a:p>
          <a:p>
            <a:r>
              <a:t>IT IS NOT: the probability that H0 is true; the probability the result is a fluke; the size or importance of the effect; the probability of replicating.</a:t>
            </a:r>
          </a:p>
          <a:p>
            <a:r>
              <a:t>Bayes link (last class): P(data | H0) is not P(H0 | data). This is the same P(A|B) vs P(B|A) trap!</a:t>
            </a:r>
          </a:p>
          <a:p>
            <a:r>
              <a:t>ASK: 'p = 0.04 in one study and p = 0.06 in another. Are they really different findings?' (No. 0.05 is a convention, not a cliff.)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TO BE WRONG. Type I = false alarm (we claim an effect that is not there). Type II = miss (a real effect we did not detect).</a:t>
            </a:r>
          </a:p>
          <a:p>
            <a:r>
              <a:t>alpha = 0.05 means: when H0 is true we accept a 5% chance of a false alarm. Run 20 tests of nothing and one will come out 'significant' by luck: this is why multiple testing / p-hacking is dangerous.</a:t>
            </a:r>
          </a:p>
          <a:p>
            <a:r>
              <a:t>POWER = 1 - P(Type II): the chance of detecting a real effect. Bigger samples and bigger effects raise power.</a:t>
            </a:r>
          </a:p>
          <a:p>
            <a:r>
              <a:t>Medical-test link: false positives and false negatives from the Bayes lesson are the same idea.</a:t>
            </a:r>
          </a:p>
          <a:p>
            <a:r>
              <a:t>ASK: 'Which error is worse for a new medicine? For a spam filter?'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p-value answers: 'is there an effect?'  Effect size answers: 'how big is it?'  They are different questions.</a:t>
            </a:r>
          </a:p>
          <a:p>
            <a:r>
              <a:t>COHEN'S d = (mean1 - mean2) / pooled SD. It is a difference measured in standard deviations, so it is unit-free and comparable. Rough rules of thumb: 0.2 small, 0.5 medium, 0.8 large (context matters!).</a:t>
            </a:r>
          </a:p>
          <a:p>
            <a:r>
              <a:t>TABLE: the SAME effect (3 points, SD 10, d = 0.30) gives n=20 per group: p 0.349; n=100 per group: p 0.035; n=1000 per group: p &lt; 0.0001. Sample size alone flips the verdict while the effect did not change.</a:t>
            </a:r>
          </a:p>
          <a:p>
            <a:r>
              <a:t>OUR DATA: heavy job vs no job: d = 0.73 (medium to large). Hostel vs home residence: d = 0.02, p = 0.85: nothing there.</a:t>
            </a:r>
          </a:p>
          <a:p>
            <a:r>
              <a:t>ASK: 'Which would you rather have: a significant result with d = 0.05, or a non-significant one with d = 0.8 from 10 students?' (Discuss: the second needs more data, the first may not matter.)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HABIT: always give three things: (1) the estimate with its interval, (2) the p-value if you tested, (3) the effect size, in plain words.</a:t>
            </a:r>
          </a:p>
          <a:p>
            <a:r>
              <a:t>Read the example sentence aloud and ask them to find each of the three parts.</a:t>
            </a:r>
          </a:p>
          <a:p>
            <a:r>
              <a:t>This is exactly what groups will practise in the activity: they must write one such sentence for their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closing checklist. Pick 2-3 and ask the class for an example of each.</a:t>
            </a:r>
          </a:p>
          <a:p>
            <a:r>
              <a:t>Tie back: 'Which of these did we see in the EDA class?' (Simpson's paradox is the confounding one; missing data is the biased-sample one.)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OUT: 05_STUDENT_group_activity.ipynb (Colab). Five groups, one topic each, ~25 min prep + 5 min per group.</a:t>
            </a:r>
          </a:p>
          <a:p>
            <a:r>
              <a:t>The notebook gives them the data and the task, but NOT the code: they must work it out (AI allowed, with a log).</a:t>
            </a:r>
          </a:p>
          <a:p>
            <a:r>
              <a:t>Population = the 518 exam scores, so every group can compare their answer with the known truth.</a:t>
            </a:r>
          </a:p>
          <a:p>
            <a:r>
              <a:t>Questions for you to ask after each group are in 05_INSTRUCTOR_group_activity.ipynb.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541"/>
                </a:solidFill>
                <a:latin typeface="Calibri"/>
              </a:rPr>
              <a:t>DATA SCIENCE · CLASS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From a sample
to the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FE5E1"/>
                </a:solidFill>
                <a:latin typeface="Calibri"/>
              </a:rPr>
              <a:t>Statistical inference: samples, sampling distributions, confidence intervals, hypothesis tests, p-values and effect sizes</a:t>
            </a:r>
          </a:p>
        </p:txBody>
      </p:sp>
      <p:sp>
        <p:nvSpPr>
          <p:cNvPr id="5" name="Oval 4"/>
          <p:cNvSpPr/>
          <p:nvPr/>
        </p:nvSpPr>
        <p:spPr>
          <a:xfrm>
            <a:off x="7498079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99831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01583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03336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05088" y="1371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06840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08592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10344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12096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13848" y="1371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1371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17352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19104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20855" y="1371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1828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99831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01583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3336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05088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06840" y="1828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8592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10344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12096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13848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17352" y="1828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19104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20855" y="1828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98079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99831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01583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03336" y="2286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05088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06840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08592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10344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12096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13848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15600" y="2286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817352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119104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20855" y="2286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98079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99831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01583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03336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05088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06840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08592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10344" y="2743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12096" y="2743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13848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15600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817352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19104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20855" y="2743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498079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799831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1583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03336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705088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006840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08592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10344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912096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213848" y="32004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515600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817352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119104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420855" y="32004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498079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99831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01583" y="3657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403336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05088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006840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308592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610344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912096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213848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515600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17352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119104" y="36576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420855" y="36576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98079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799831" y="4114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01583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403336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05088" y="4114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006840" y="4114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308592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610344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912096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13848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515600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817352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119104" y="41148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20855" y="41148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98079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99831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101583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03336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705088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006840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308592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610344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912096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13848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515600" y="45720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817352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119104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420855" y="45720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498079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799831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101583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403336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705088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006840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308592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610344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912096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213848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515600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817352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119104" y="5029200"/>
            <a:ext cx="182880" cy="1828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420855" y="5029200"/>
            <a:ext cx="182880" cy="1828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We study a few to learn about everyone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1 · 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30175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7302F"/>
                </a:solidFill>
                <a:latin typeface="Calibri"/>
              </a:rPr>
              <a:t>What is the average exam score of ALL students?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3736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920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2 ·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359152"/>
            <a:ext cx="30175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7302F"/>
                </a:solidFill>
                <a:latin typeface="Calibri"/>
              </a:rPr>
              <a:t>We only have 40 scores.
We cannot ask everyone.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73736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20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3 · The honest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359152"/>
            <a:ext cx="30175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7302F"/>
                </a:solidFill>
                <a:latin typeface="Calibri"/>
              </a:rPr>
              <a:t>An estimate, plus how wrong it could 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Inference = using a sample to say something about a population, and being honest about the uncertainty.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1 · POPULATION VS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Parameter (the truth) vs statistic (our estimate)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23951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F7A78"/>
                </a:solidFill>
                <a:latin typeface="Cambria"/>
              </a:rPr>
              <a:t>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Everyone we care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μ (mu)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29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Std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σ (sigma)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31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Proportion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31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23951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36B00"/>
                </a:solidFill>
                <a:latin typeface="Cambria"/>
              </a:rPr>
              <a:t>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The few we actually measured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x̄ (x-bar)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Std deviation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31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7302F"/>
                </a:solidFill>
                <a:latin typeface="Calibri"/>
              </a:rPr>
              <a:t>Proportion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p̂ (p-hat)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274320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2A541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52395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libri"/>
              </a:rPr>
              <a:t>Parameter: </a:t>
            </a:r>
            <a:r>
              <a:rPr sz="1700" b="0" i="0">
                <a:solidFill>
                  <a:srgbClr val="17302F"/>
                </a:solidFill>
                <a:latin typeface="Calibri"/>
              </a:rPr>
              <a:t>a fixed number, usually unknown.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Our class data: μ = 64.9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52395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B36B00"/>
                </a:solidFill>
                <a:latin typeface="Calibri"/>
              </a:rPr>
              <a:t>Statistic: </a:t>
            </a:r>
            <a:r>
              <a:rPr sz="1700" b="0" i="0">
                <a:solidFill>
                  <a:srgbClr val="17302F"/>
                </a:solidFill>
                <a:latin typeface="Calibri"/>
              </a:rPr>
              <a:t>computed from data, changes sample to sample.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One sample of 40: x̄ = 65.1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2 ·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A big sample is not the same as a good sample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Random sample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4937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7302F"/>
                </a:solidFill>
                <a:latin typeface="Calibri"/>
              </a:rPr>
              <a:t>Every member has an equal chance of being picked.
Errors average out, so x̄ is aimed at 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64592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Biased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267712"/>
            <a:ext cx="49377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Some members are more likely to be picked.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Volunteers only · friends only · survivors only · the front row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More data does NOT fix it: you just get a precise wrong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A541"/>
                </a:solidFill>
                <a:latin typeface="Calibri"/>
              </a:rPr>
              <a:t>REAL EXAMPLE · US election, 1936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magazine poll with millions of replies predicted the wrong winner. A far smaller random poll got it right. The magazine’s mailing list leaned wealthy.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3 · SAMPLING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If we repeated the study 5,000 times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645920"/>
            <a:ext cx="3776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Each bar = how often a sample of 30 gave that mean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286000"/>
            <a:ext cx="37764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28600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7A78"/>
                </a:solidFill>
                <a:latin typeface="Cambria"/>
              </a:rPr>
              <a:t>64.9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28600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true population mean μ, and the centre of the bars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566160"/>
            <a:ext cx="37764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356616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5C6F6E"/>
                </a:solidFill>
                <a:latin typeface="Cambria"/>
              </a:rPr>
              <a:t>12.2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5661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spread of individual students (σ)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846320"/>
            <a:ext cx="377647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1280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B36B00"/>
                </a:solidFill>
                <a:latin typeface="Cambria"/>
              </a:rPr>
              <a:t>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84632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spread of sample means. Averages are much steadier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3 · SAMPLING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Standard error: how wrong is a typical x̄?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754880" cy="201168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SE = σ / √n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1F7A78"/>
                </a:solidFill>
                <a:latin typeface="Calibri"/>
              </a:rPr>
              <a:t>SD</a:t>
            </a:r>
            <a:r>
              <a:rPr sz="1800" b="0" i="0">
                <a:solidFill>
                  <a:srgbClr val="17302F"/>
                </a:solidFill>
                <a:latin typeface="Calibri"/>
              </a:rPr>
              <a:t> = spread of individual students.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B36B00"/>
                </a:solidFill>
                <a:latin typeface="Calibri"/>
              </a:rPr>
              <a:t>SE</a:t>
            </a:r>
            <a:r>
              <a:rPr sz="1800" b="0" i="0">
                <a:solidFill>
                  <a:srgbClr val="17302F"/>
                </a:solidFill>
                <a:latin typeface="Calibri"/>
              </a:rPr>
              <a:t> = how precise our estimate of the mean is.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17302F"/>
                </a:solidFill>
                <a:latin typeface="Calibri"/>
              </a:rPr>
              <a:t>4× the data</a:t>
            </a:r>
            <a:r>
              <a:rPr sz="1800" b="0" i="0">
                <a:solidFill>
                  <a:srgbClr val="17302F"/>
                </a:solidFill>
                <a:latin typeface="Calibri"/>
              </a:rPr>
              <a:t> → half the error.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0" y="1554480"/>
          <a:ext cx="59436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4 · 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A net, not a bullseye: 20 samples, 20 intervals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06681" y="1783080"/>
            <a:ext cx="3578578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041106" y="172821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659720" y="1988819"/>
            <a:ext cx="2929800" cy="0"/>
          </a:xfrm>
          <a:prstGeom prst="line">
            <a:avLst/>
          </a:prstGeom>
          <a:ln w="38100">
            <a:solidFill>
              <a:srgbClr val="C84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193874" y="1933955"/>
            <a:ext cx="109728" cy="109728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91581" y="2194560"/>
            <a:ext cx="3202678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38056" y="213969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54120" y="2400300"/>
            <a:ext cx="3199087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98800" y="234543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252116" y="2606040"/>
            <a:ext cx="3204024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99264" y="255117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488179" y="2811780"/>
            <a:ext cx="2769384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18007" y="275691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998899" y="3017520"/>
            <a:ext cx="3607706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47888" y="296265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399711" y="3223260"/>
            <a:ext cx="3527849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108771" y="316839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3429000"/>
            <a:ext cx="3887085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686541" y="337413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22960" y="3634739"/>
            <a:ext cx="3637506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48458" y="3579875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2599599" y="3840480"/>
            <a:ext cx="3416278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252874" y="378561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032767" y="4046220"/>
            <a:ext cx="3001045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78426" y="399135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388968" y="4251960"/>
            <a:ext cx="2647021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657614" y="419709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900252" y="4457700"/>
            <a:ext cx="3070598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4380687" y="440283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835868" y="4663440"/>
            <a:ext cx="2861143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211575" y="460857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693037" y="4869180"/>
            <a:ext cx="3520113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4398230" y="481431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53830" y="5074920"/>
            <a:ext cx="3786645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992289" y="502005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624942" y="5280660"/>
            <a:ext cx="3445788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292972" y="522579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426692" y="5486400"/>
            <a:ext cx="3536540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140098" y="543153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3309617" y="5692140"/>
            <a:ext cx="3610192" cy="0"/>
          </a:xfrm>
          <a:prstGeom prst="line">
            <a:avLst/>
          </a:prstGeom>
          <a:ln w="38100">
            <a:solidFill>
              <a:srgbClr val="1F7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5059849" y="5637276"/>
            <a:ext cx="109728" cy="109728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4170825" y="1627632"/>
            <a:ext cx="0" cy="4224528"/>
          </a:xfrm>
          <a:prstGeom prst="line">
            <a:avLst/>
          </a:prstGeom>
          <a:ln w="31750">
            <a:solidFill>
              <a:srgbClr val="F2A5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48640" y="5897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C6F6E"/>
                </a:solidFill>
                <a:latin typeface="Calibri"/>
              </a:rPr>
              <a:t>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2320" y="5897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C6F6E"/>
                </a:solidFill>
                <a:latin typeface="Calibri"/>
              </a:rPr>
              <a:t>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6000" y="5897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C6F6E"/>
                </a:solidFill>
                <a:latin typeface="Calibri"/>
              </a:rPr>
              <a:t>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9680" y="5897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C6F6E"/>
                </a:solidFill>
                <a:latin typeface="Calibri"/>
              </a:rPr>
              <a:t>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3360" y="5897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C6F6E"/>
                </a:solidFill>
                <a:latin typeface="Calibri"/>
              </a:rPr>
              <a:t>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6425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36B00"/>
                </a:solidFill>
                <a:latin typeface="Calibri"/>
              </a:rPr>
              <a:t>true μ = 64.9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164592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1645920"/>
            <a:ext cx="15544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F7A78"/>
                </a:solidFill>
                <a:latin typeface="Cambria"/>
              </a:rPr>
              <a:t>19/20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1645920"/>
            <a:ext cx="16459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intervals caught the true mean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38160" y="3246120"/>
            <a:ext cx="350215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66760" y="342900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95% is about the method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867911"/>
            <a:ext cx="3044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Repeat the process many times: about 95% of intervals catch μ.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38160" y="4754880"/>
            <a:ext cx="350215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493776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Price of confidence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376672"/>
            <a:ext cx="3044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99% → wider interval. More data → narrower.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4 · 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How to build one (95%)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x̄  ±  t* × s / √n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Sample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x̄ = 65.1  (n = 40)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831335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3133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1304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Spread of the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81304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s = 10.1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98264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982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7997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Standard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79976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s / √n = 1.60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965192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651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469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Critical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94690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t* = 2.02  (95%, 39 df)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532119"/>
            <a:ext cx="384048" cy="38404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321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F3D3E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1383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Margin of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513831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2.02 × 1.60 = ±3.2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645920"/>
            <a:ext cx="50566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7A78"/>
                </a:solidFill>
                <a:latin typeface="Calibri"/>
              </a:rPr>
              <a:t>THE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945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F3D3E"/>
                </a:solidFill>
                <a:latin typeface="Cambria"/>
              </a:rPr>
              <a:t>61.9  to  68.4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089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(true μ = 64.9, inside)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023360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Say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645152"/>
            <a:ext cx="196596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“We are 95% confident the mean is between these two numbers.”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7152" y="4023360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420624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Don’t say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2" y="4645152"/>
            <a:ext cx="1965960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7302F"/>
                </a:solidFill>
                <a:latin typeface="Calibri"/>
              </a:rPr>
              <a:t>“95% of students score between these.” That is a different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5 ·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Innocent until proven guilty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courtroom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4480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H₀ (null): nothing is going on.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H₁ (alternative): something is going on.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Data = the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49377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The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82312"/>
            <a:ext cx="4480560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Evidence very surprising under H₀ → reject H₀.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Otherwise: fail to reject. That is “not guilty”, not “innocent”.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578815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0" y="1828800"/>
            <a:ext cx="411480" cy="4114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190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State the hypotheses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3911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H₀: μ₁ = μ₂   vs   H₁: μ₁ ≠ μ₂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542032"/>
            <a:ext cx="578815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2724912"/>
            <a:ext cx="411480" cy="4114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72491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61518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Pick a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3522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α = 0.05 (decide BEFORE looking)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438144"/>
            <a:ext cx="578815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3621024"/>
            <a:ext cx="411480" cy="4114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62102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51129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Compute a test statistic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831335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How many SEs apart are the groups?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4334256"/>
            <a:ext cx="578815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0" y="4517136"/>
            <a:ext cx="411480" cy="4114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51713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074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Find the p-value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274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How surprising is that if H₀ is true?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230368"/>
            <a:ext cx="578815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0" y="5413248"/>
            <a:ext cx="411480" cy="41148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41324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303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Decide and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2355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Reject / fail to reject, plus estimate and size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5 ·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In action: does a heavy job change exam scores?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mbria"/>
              </a:rPr>
              <a:t>No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1F7A78"/>
                </a:solidFill>
                <a:latin typeface="Cambria"/>
              </a:rPr>
              <a:t>67.2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mean score · n = 277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mbria"/>
              </a:rPr>
              <a:t>Job &gt; 15 h /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C8453F"/>
                </a:solidFill>
                <a:latin typeface="Cambria"/>
              </a:rPr>
              <a:t>58.4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46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mean score · n = 108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502152" cy="219456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A541"/>
                </a:solidFill>
                <a:latin typeface="Calibri"/>
              </a:rPr>
              <a:t>WELCH t-TEST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9456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0" i="0">
                <a:solidFill>
                  <a:srgbClr val="CFE5E1"/>
                </a:solidFill>
                <a:latin typeface="Cambria"/>
              </a:rPr>
              <a:t>t =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5.9</a:t>
            </a:r>
          </a:p>
          <a:p>
            <a:pPr algn="l">
              <a:spcAft>
                <a:spcPts val="200"/>
              </a:spcAft>
            </a:pPr>
            <a:r>
              <a:rPr sz="3000" b="0" i="0">
                <a:solidFill>
                  <a:srgbClr val="CFE5E1"/>
                </a:solidFill>
                <a:latin typeface="Cambria"/>
              </a:rPr>
              <a:t>p 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&lt; 0.0001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Reading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36592"/>
            <a:ext cx="5029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Gap = 8.8 points  (95% CI 5.9 to 11.6).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If jobs made no difference, a gap this large from luck alone would be extremely rare → reject H₀.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11480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453F"/>
                </a:solidFill>
                <a:latin typeface="Cambria"/>
              </a:rPr>
              <a:t>Careful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736592"/>
            <a:ext cx="49377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Significant ≠ caused by the job.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Heavy workers also sleep less. Other differences can hide behind the gap.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A541"/>
                </a:solidFill>
                <a:latin typeface="Calibri"/>
              </a:rPr>
              <a:t>6 · P-VALUES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p-value: surprise if nothing is going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p-value = P( data this extreme or more  |  H₀ is true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7472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A541"/>
                </a:solidFill>
                <a:latin typeface="Calibri"/>
              </a:rPr>
              <a:t>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measure of surprise under the “nothing is going on” assumption.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Smaller p = harder to blame luck.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474720"/>
            <a:ext cx="5440680" cy="2651760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9C93"/>
                </a:solidFill>
                <a:latin typeface="Calibri"/>
              </a:rPr>
              <a:t>IT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402336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The probability that H₀ is true.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The size or importance of the effect.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magic switch at 0.05.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6 · P-VALUES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Two ways to be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554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C6F6E"/>
                </a:solidFill>
                <a:latin typeface="Calibri"/>
              </a:rPr>
              <a:t>H₀ is actually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554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5C6F6E"/>
                </a:solidFill>
                <a:latin typeface="Calibri"/>
              </a:rPr>
              <a:t>H₀ is actually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We reject H₀
(“significant”)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F3D3E"/>
                </a:solidFill>
                <a:latin typeface="Calibri"/>
              </a:rPr>
              <a:t>We fail to
reject H₀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4023360" cy="173736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8453F"/>
                </a:solidFill>
                <a:latin typeface="Cambria"/>
              </a:rPr>
              <a:t>Type I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False alarm. Probability = α (e.g. 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011680"/>
            <a:ext cx="4114800" cy="1737360"/>
          </a:xfrm>
          <a:prstGeom prst="roundRect">
            <a:avLst>
              <a:gd name="adj" fmla="val 6000"/>
            </a:avLst>
          </a:prstGeom>
          <a:solidFill>
            <a:srgbClr val="E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7A78"/>
                </a:solidFill>
                <a:latin typeface="Cambria"/>
              </a:rPr>
              <a:t>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43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Real effect found. Probability =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977639"/>
            <a:ext cx="4023360" cy="1737360"/>
          </a:xfrm>
          <a:prstGeom prst="roundRect">
            <a:avLst>
              <a:gd name="adj" fmla="val 6000"/>
            </a:avLst>
          </a:prstGeom>
          <a:solidFill>
            <a:srgbClr val="E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F7A78"/>
                </a:solidFill>
                <a:latin typeface="Cambria"/>
              </a:rPr>
              <a:t>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70915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Nothing there, nothing claimed.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77639"/>
            <a:ext cx="4114800" cy="1737360"/>
          </a:xfrm>
          <a:prstGeom prst="roundRect">
            <a:avLst>
              <a:gd name="adj" fmla="val 6000"/>
            </a:avLst>
          </a:prstGeom>
          <a:solidFill>
            <a:srgbClr val="FF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B36B00"/>
                </a:solidFill>
                <a:latin typeface="Cambria"/>
              </a:rPr>
              <a:t>Type II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709159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A miss. Real effect not detected.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Run 20 tests of pure noise and one will look “significant” at α = 0.05. That is why you decide the test before looking.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7 · EFFECT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Significant is not the same as big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d = (x̄₁ − x̄₂) / s_pooled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F6E"/>
                </a:solidFill>
                <a:latin typeface="Calibri"/>
              </a:rPr>
              <a:t>Difference measured in standard deviations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8620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F7A78"/>
                </a:solidFill>
                <a:latin typeface="Cambria"/>
              </a:rPr>
              <a:t>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small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388620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9319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F7A78"/>
                </a:solidFill>
                <a:latin typeface="Cambria"/>
              </a:rPr>
              <a:t>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45262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medium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886200"/>
            <a:ext cx="17373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39319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F7A78"/>
                </a:solidFill>
                <a:latin typeface="Cambria"/>
              </a:rP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45262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C6F6E"/>
                </a:solidFill>
                <a:latin typeface="Calibri"/>
              </a:rPr>
              <a:t>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7302F"/>
                </a:solidFill>
                <a:latin typeface="Calibri"/>
              </a:rPr>
              <a:t>Our data: </a:t>
            </a:r>
            <a:r>
              <a:rPr sz="1500" b="0" i="0">
                <a:solidFill>
                  <a:srgbClr val="17302F"/>
                </a:solidFill>
                <a:latin typeface="Calibri"/>
              </a:rPr>
              <a:t>heavy job vs none d = 0.73; hostel vs home d = 0.02 (p = 0.85).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mbria"/>
              </a:rPr>
              <a:t>Same effect (d = 0.30), only the sample size changes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2240280"/>
          <a:ext cx="52395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 per group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p-value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Verdict at α = 0.05</a:t>
                      </a:r>
                    </a:p>
                  </a:txBody>
                  <a:tcPr>
                    <a:solidFill>
                      <a:srgbClr val="0F3D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C8453F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302F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02F"/>
                          </a:solidFill>
                          <a:latin typeface="Calibri"/>
                        </a:rPr>
                        <a:t>&lt; 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302F"/>
                          </a:solidFill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0800" y="4892040"/>
            <a:ext cx="52395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7302F"/>
                </a:solidFill>
                <a:latin typeface="Calibri"/>
              </a:rPr>
              <a:t>A huge sample can make a trivial effect “significant”. A small sample can hide a real one. Always report the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How to report a finding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3D3E"/>
                </a:solidFill>
                <a:latin typeface="Cambria"/>
              </a:rPr>
              <a:t>Estimate +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Gap of 8.8 points (95% CI 5.9 to 11.6)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1828800"/>
            <a:ext cx="502920" cy="502920"/>
          </a:xfrm>
          <a:prstGeom prst="ellipse">
            <a:avLst/>
          </a:prstGeom>
          <a:solidFill>
            <a:srgbClr val="B3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514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3D3E"/>
                </a:solidFill>
                <a:latin typeface="Cambria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92608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Welch t-test: p &lt; 0.0001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1828800"/>
            <a:ext cx="502920" cy="502920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514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F3D3E"/>
                </a:solidFill>
                <a:latin typeface="Cambria"/>
              </a:rPr>
              <a:t>Effect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2608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7302F"/>
                </a:solidFill>
                <a:latin typeface="Calibri"/>
              </a:rPr>
              <a:t>d = 0.73, a medium-to-large difference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0F3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2A541"/>
                </a:solidFill>
                <a:latin typeface="Calibri"/>
              </a:rPr>
              <a:t>A COMPLETE SENTENCE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mbria"/>
              </a:rPr>
              <a:t>“Students with a job over 15 h/week scored 8.8 points lower on average (95% CI 5.9 to 11.6; Welch t-test p &lt; 0.0001; d = 0.73).”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Five mistakes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830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5120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“p = 0.03 means a 3% chance H₀ is true.”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60020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7A78"/>
                </a:solidFill>
                <a:latin typeface="Calibri"/>
              </a:rPr>
              <a:t>p is about the data if H₀ is 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6974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14600"/>
            <a:ext cx="5120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“Not significant, so there is no effect.”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7A78"/>
                </a:solidFill>
                <a:latin typeface="Calibri"/>
              </a:rPr>
              <a:t>Maybe too little data. Look at the interval.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6118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429000"/>
            <a:ext cx="5120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“Significant, so it matters.”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7A78"/>
                </a:solidFill>
                <a:latin typeface="Calibri"/>
              </a:rPr>
              <a:t>Check the effect size and the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43400"/>
            <a:ext cx="5120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“A 95% interval contains 95% of the data.”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7A78"/>
                </a:solidFill>
                <a:latin typeface="Calibri"/>
              </a:rPr>
              <a:t>It is about the mean, not individuals.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440680"/>
            <a:ext cx="438912" cy="438912"/>
          </a:xfrm>
          <a:prstGeom prst="ellipse">
            <a:avLst/>
          </a:prstGeom>
          <a:solidFill>
            <a:srgbClr val="C8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257800"/>
            <a:ext cx="5120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“Big sample, so no bias.”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48463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7A78"/>
                </a:solidFill>
                <a:latin typeface="Calibri"/>
              </a:rPr>
              <a:t>Bad sampling stays bad at any size.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2A541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Five groups, five questions, one notebook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7393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739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3291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Population vs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6675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5E1"/>
                </a:solidFill>
                <a:latin typeface="Calibri"/>
              </a:rPr>
              <a:t>Does a random sample find μ? What about a convenience sample?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68833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883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14600"/>
            <a:ext cx="3291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Sampling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14600"/>
            <a:ext cx="6675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5E1"/>
                </a:solidFill>
                <a:latin typeface="Calibri"/>
              </a:rPr>
              <a:t>Draw many samples at n = 10, 30, 100. What shrinks, and how fast?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60273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027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29000"/>
            <a:ext cx="3291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Confidence intervals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6675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5E1"/>
                </a:solidFill>
                <a:latin typeface="Calibri"/>
              </a:rPr>
              <a:t>Build 100 intervals. How many catch the truth at 90%, 95%, 99%?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51713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171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43400"/>
            <a:ext cx="3291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Hypothesis test &amp; p-value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343400"/>
            <a:ext cx="6675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5E1"/>
                </a:solidFill>
                <a:latin typeface="Calibri"/>
              </a:rPr>
              <a:t>Do heavy workers score lower? Test it, then check with shuffling.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91672" cy="804672"/>
          </a:xfrm>
          <a:prstGeom prst="roundRect">
            <a:avLst>
              <a:gd name="adj" fmla="val 6000"/>
            </a:avLst>
          </a:prstGeom>
          <a:solidFill>
            <a:srgbClr val="145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431536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315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0F3D3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57800"/>
            <a:ext cx="3291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Effect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257800"/>
            <a:ext cx="667512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5E1"/>
                </a:solidFill>
                <a:latin typeface="Calibri"/>
              </a:rPr>
              <a:t>Rank comparisons by d and by p. Same p, different 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