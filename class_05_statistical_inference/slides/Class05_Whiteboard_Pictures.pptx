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individual students (SD 12.2)</c:v>
                </c:pt>
              </c:strCache>
            </c:strRef>
          </c:tx>
          <c:spPr>
            <a:ln w="44450">
              <a:solidFill>
                <a:srgbClr val="1F7A78"/>
              </a:solidFill>
            </a:ln>
          </c:spPr>
          <c:marker>
            <c:symbol val="none"/>
          </c:marker>
          <c:cat>
            <c:strRef>
              <c:f>Sheet1!$A$2:$A$30</c:f>
              <c:strCache>
                <c:ptCount val="29"/>
                <c:pt idx="0">
                  <c:v>30</c:v>
                </c:pt>
                <c:pt idx="1">
                  <c:v/>
                </c:pt>
                <c:pt idx="2">
                  <c:v/>
                </c:pt>
                <c:pt idx="3">
                  <c:v/>
                </c:pt>
                <c:pt idx="4">
                  <c:v>40</c:v>
                </c:pt>
                <c:pt idx="5">
                  <c:v/>
                </c:pt>
                <c:pt idx="6">
                  <c:v/>
                </c:pt>
                <c:pt idx="7">
                  <c:v/>
                </c:pt>
                <c:pt idx="8">
                  <c:v>50</c:v>
                </c:pt>
                <c:pt idx="9">
                  <c:v/>
                </c:pt>
                <c:pt idx="10">
                  <c:v/>
                </c:pt>
                <c:pt idx="11">
                  <c:v/>
                </c:pt>
                <c:pt idx="12">
                  <c:v>60</c:v>
                </c:pt>
                <c:pt idx="13">
                  <c:v/>
                </c:pt>
                <c:pt idx="14">
                  <c:v/>
                </c:pt>
                <c:pt idx="15">
                  <c:v/>
                </c:pt>
                <c:pt idx="16">
                  <c:v>70</c:v>
                </c:pt>
                <c:pt idx="17">
                  <c:v/>
                </c:pt>
                <c:pt idx="18">
                  <c:v/>
                </c:pt>
                <c:pt idx="19">
                  <c:v/>
                </c:pt>
                <c:pt idx="20">
                  <c:v>80</c:v>
                </c:pt>
                <c:pt idx="21">
                  <c:v/>
                </c:pt>
                <c:pt idx="22">
                  <c:v/>
                </c:pt>
                <c:pt idx="23">
                  <c:v/>
                </c:pt>
                <c:pt idx="24">
                  <c:v>90</c:v>
                </c:pt>
                <c:pt idx="25">
                  <c:v/>
                </c:pt>
                <c:pt idx="26">
                  <c:v/>
                </c:pt>
                <c:pt idx="27">
                  <c:v/>
                </c:pt>
                <c:pt idx="28">
                  <c:v>100</c:v>
                </c:pt>
              </c:strCache>
            </c:strRef>
          </c:cat>
          <c:val>
            <c:numRef>
              <c:f>Sheet1!$B$2:$B$30</c:f>
              <c:numCache>
                <c:formatCode>General</c:formatCode>
                <c:ptCount val="29"/>
                <c:pt idx="0">
                  <c:v>0.0005</c:v>
                </c:pt>
                <c:pt idx="1">
                  <c:v>0.001</c:v>
                </c:pt>
                <c:pt idx="2">
                  <c:v>0.0016</c:v>
                </c:pt>
                <c:pt idx="3">
                  <c:v>0.0026</c:v>
                </c:pt>
                <c:pt idx="4">
                  <c:v>0.0041</c:v>
                </c:pt>
                <c:pt idx="5">
                  <c:v>0.0061</c:v>
                </c:pt>
                <c:pt idx="6">
                  <c:v>0.0086</c:v>
                </c:pt>
                <c:pt idx="7">
                  <c:v>0.0118</c:v>
                </c:pt>
                <c:pt idx="8">
                  <c:v>0.0155</c:v>
                </c:pt>
                <c:pt idx="9">
                  <c:v>0.0195</c:v>
                </c:pt>
                <c:pt idx="10">
                  <c:v>0.0235</c:v>
                </c:pt>
                <c:pt idx="11">
                  <c:v>0.0272</c:v>
                </c:pt>
                <c:pt idx="12">
                  <c:v>0.0302</c:v>
                </c:pt>
                <c:pt idx="13">
                  <c:v>0.0321</c:v>
                </c:pt>
                <c:pt idx="14">
                  <c:v>0.0327</c:v>
                </c:pt>
                <c:pt idx="15">
                  <c:v>0.032</c:v>
                </c:pt>
                <c:pt idx="16">
                  <c:v>0.03</c:v>
                </c:pt>
                <c:pt idx="17">
                  <c:v>0.0269</c:v>
                </c:pt>
                <c:pt idx="18">
                  <c:v>0.0232</c:v>
                </c:pt>
                <c:pt idx="19">
                  <c:v>0.0192</c:v>
                </c:pt>
                <c:pt idx="20">
                  <c:v>0.0152</c:v>
                </c:pt>
                <c:pt idx="21">
                  <c:v>0.0116</c:v>
                </c:pt>
                <c:pt idx="22">
                  <c:v>0.0084</c:v>
                </c:pt>
                <c:pt idx="23">
                  <c:v>0.0059</c:v>
                </c:pt>
                <c:pt idx="24">
                  <c:v>0.0039</c:v>
                </c:pt>
                <c:pt idx="25">
                  <c:v>0.0025</c:v>
                </c:pt>
                <c:pt idx="26">
                  <c:v>0.0016</c:v>
                </c:pt>
                <c:pt idx="27">
                  <c:v>0.0009</c:v>
                </c:pt>
                <c:pt idx="28">
                  <c:v>0.0005</c:v>
                </c:pt>
              </c:numCache>
            </c:numRef>
          </c:val>
          <c:smooth/>
        </c:ser>
        <c:ser>
          <c:idx val="1"/>
          <c:order val="1"/>
          <c:tx>
            <c:strRef>
              <c:f>Sheet1!$C$1</c:f>
              <c:strCache>
                <c:ptCount val="1"/>
                <c:pt idx="0">
                  <c:v>averages of 30 (SE 2.2)</c:v>
                </c:pt>
              </c:strCache>
            </c:strRef>
          </c:tx>
          <c:spPr>
            <a:ln w="44450">
              <a:solidFill>
                <a:srgbClr val="E08A00"/>
              </a:solidFill>
            </a:ln>
          </c:spPr>
          <c:marker>
            <c:symbol val="none"/>
          </c:marker>
          <c:cat>
            <c:strRef>
              <c:f>Sheet1!$A$2:$A$30</c:f>
              <c:strCache>
                <c:ptCount val="29"/>
                <c:pt idx="0">
                  <c:v>30</c:v>
                </c:pt>
                <c:pt idx="1">
                  <c:v/>
                </c:pt>
                <c:pt idx="2">
                  <c:v/>
                </c:pt>
                <c:pt idx="3">
                  <c:v/>
                </c:pt>
                <c:pt idx="4">
                  <c:v>40</c:v>
                </c:pt>
                <c:pt idx="5">
                  <c:v/>
                </c:pt>
                <c:pt idx="6">
                  <c:v/>
                </c:pt>
                <c:pt idx="7">
                  <c:v/>
                </c:pt>
                <c:pt idx="8">
                  <c:v>50</c:v>
                </c:pt>
                <c:pt idx="9">
                  <c:v/>
                </c:pt>
                <c:pt idx="10">
                  <c:v/>
                </c:pt>
                <c:pt idx="11">
                  <c:v/>
                </c:pt>
                <c:pt idx="12">
                  <c:v>60</c:v>
                </c:pt>
                <c:pt idx="13">
                  <c:v/>
                </c:pt>
                <c:pt idx="14">
                  <c:v/>
                </c:pt>
                <c:pt idx="15">
                  <c:v/>
                </c:pt>
                <c:pt idx="16">
                  <c:v>70</c:v>
                </c:pt>
                <c:pt idx="17">
                  <c:v/>
                </c:pt>
                <c:pt idx="18">
                  <c:v/>
                </c:pt>
                <c:pt idx="19">
                  <c:v/>
                </c:pt>
                <c:pt idx="20">
                  <c:v>80</c:v>
                </c:pt>
                <c:pt idx="21">
                  <c:v/>
                </c:pt>
                <c:pt idx="22">
                  <c:v/>
                </c:pt>
                <c:pt idx="23">
                  <c:v/>
                </c:pt>
                <c:pt idx="24">
                  <c:v>90</c:v>
                </c:pt>
                <c:pt idx="25">
                  <c:v/>
                </c:pt>
                <c:pt idx="26">
                  <c:v/>
                </c:pt>
                <c:pt idx="27">
                  <c:v/>
                </c:pt>
                <c:pt idx="28">
                  <c:v>100</c:v>
                </c:pt>
              </c:strCache>
            </c:strRef>
          </c:cat>
          <c:val>
            <c:numRef>
              <c:f>Sheet1!$C$2:$C$30</c:f>
              <c:numCache>
                <c:formatCode>General</c:formatCode>
                <c:ptCount val="29"/>
                <c:pt idx="0">
                  <c:v>0.0</c:v>
                </c:pt>
                <c:pt idx="1">
                  <c:v>0.0</c:v>
                </c:pt>
                <c:pt idx="2">
                  <c:v>0.0</c:v>
                </c:pt>
                <c:pt idx="3">
                  <c:v>0.0</c:v>
                </c:pt>
                <c:pt idx="4">
                  <c:v>0.0</c:v>
                </c:pt>
                <c:pt idx="5">
                  <c:v>0.0</c:v>
                </c:pt>
                <c:pt idx="6">
                  <c:v>0.0</c:v>
                </c:pt>
                <c:pt idx="7">
                  <c:v>0.0</c:v>
                </c:pt>
                <c:pt idx="8">
                  <c:v>0.0</c:v>
                </c:pt>
                <c:pt idx="9">
                  <c:v>0.0</c:v>
                </c:pt>
                <c:pt idx="10">
                  <c:v>0.0</c:v>
                </c:pt>
                <c:pt idx="11">
                  <c:v>0.0006</c:v>
                </c:pt>
                <c:pt idx="12">
                  <c:v>0.0152</c:v>
                </c:pt>
                <c:pt idx="13">
                  <c:v>0.1</c:v>
                </c:pt>
                <c:pt idx="14">
                  <c:v>0.1812</c:v>
                </c:pt>
                <c:pt idx="15">
                  <c:v>0.0902</c:v>
                </c:pt>
                <c:pt idx="16">
                  <c:v>0.0123</c:v>
                </c:pt>
                <c:pt idx="17">
                  <c:v>0.0005</c:v>
                </c:pt>
                <c:pt idx="18">
                  <c:v>0.0</c:v>
                </c:pt>
                <c:pt idx="19">
                  <c:v>0.0</c:v>
                </c:pt>
                <c:pt idx="20">
                  <c:v>0.0</c:v>
                </c:pt>
                <c:pt idx="21">
                  <c:v>0.0</c:v>
                </c:pt>
                <c:pt idx="22">
                  <c:v>0.0</c:v>
                </c:pt>
                <c:pt idx="23">
                  <c:v>0.0</c:v>
                </c:pt>
                <c:pt idx="24">
                  <c:v>0.0</c:v>
                </c:pt>
                <c:pt idx="25">
                  <c:v>0.0</c:v>
                </c:pt>
                <c:pt idx="26">
                  <c:v>0.0</c:v>
                </c:pt>
                <c:pt idx="27">
                  <c:v>0.0</c:v>
                </c:pt>
                <c:pt idx="28">
                  <c:v>0.0</c:v>
                </c:pt>
              </c:numCache>
            </c:numRef>
          </c:val>
          <c:smooth/>
        </c:ser>
        <c:marker val="1"/>
        <c:smooth val="0"/>
        <c:axId val="2118791784"/>
        <c:axId val="2140495176"/>
      </c:lineChart>
      <c:catAx>
        <c:axId val="2118791784"/>
        <c:scaling>
          <c:orientation val="minMax"/>
        </c:scaling>
        <c:delete val="0"/>
        <c:axPos val="b"/>
        <c:title>
          <c:tx>
            <c:rich>
              <a:bodyPr/>
              <a:lstStyle/>
              <a:p>
                <a:r>
                  <a:rPr sz="1200" b="0">
                    <a:solidFill>
                      <a:srgbClr val="5C6F6E"/>
                    </a:solidFill>
                    <a:latin typeface="Calibri"/>
                  </a:rPr>
                  <a:t>exam score</a:t>
                </a:r>
              </a:p>
            </c:rich>
          </c:tx>
          <c:layout/>
          <c:overlay val="0"/>
        </c:title>
        <c:majorTickMark val="out"/>
        <c:minorTickMark val="none"/>
        <c:tickLblPos val="nextTo"/>
        <c:spPr>
          <a:ln>
            <a:solidFill>
              <a:srgbClr val="5C6F6E"/>
            </a:solidFill>
          </a:ln>
        </c:spPr>
        <c:crossAx val="2140495176"/>
        <c:crosses val="autoZero"/>
        <c:auto val="1"/>
        <c:lblAlgn val="ctr"/>
        <c:lblOffset val="100"/>
        <c:noMultiLvlLbl val="0"/>
      </c:catAx>
      <c:valAx>
        <c:axId val="2140495176"/>
        <c:scaling/>
        <c:delete val="0"/>
        <c:axPos val="l"/>
        <c:majorGridlines>
          <c:spPr>
            <a:ln>
              <a:solidFill>
                <a:srgbClr val="CFE5E1"/>
              </a:solidFill>
            </a:ln>
          </c:spPr>
        </c:majorGridlines>
        <c:title>
          <c:tx>
            <c:rich>
              <a:bodyPr/>
              <a:lstStyle/>
              <a:p>
                <a:r>
                  <a:rPr sz="1200" b="0">
                    <a:solidFill>
                      <a:srgbClr val="5C6F6E"/>
                    </a:solidFill>
                    <a:latin typeface="Calibri"/>
                  </a:rPr>
                  <a:t>density</a:t>
                </a:r>
              </a:p>
            </c:rich>
          </c:tx>
          <c:layout/>
          <c:overlay val="0"/>
        </c:title>
        <c:majorTickMark val="out"/>
        <c:minorTickMark val="none"/>
        <c:tickLblPos val="nextTo"/>
        <c:spPr>
          <a:ln>
            <a:noFill/>
          </a:ln>
        </c:spPr>
        <c:crossAx val="2118791784"/>
        <c:crosses val="autoZero"/>
      </c:valAx>
    </c:plotArea>
    <c:plotVisOnly val="1"/>
    <c:dispBlanksAs val="gap"/>
    <c:showDLblsOverMax val="0"/>
  </c:chart>
  <c:txPr>
    <a:bodyPr/>
    <a:lstStyle/>
    <a:p>
      <a:pPr>
        <a:defRPr sz="1200">
          <a:solidFill>
            <a:srgbClr val="5C6F6E"/>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ndard"/>
        <c:varyColors val="0"/>
        <c:ser>
          <c:idx val="0"/>
          <c:order val="0"/>
          <c:tx>
            <c:strRef>
              <c:f>Sheet1!$B$1</c:f>
              <c:strCache>
                <c:ptCount val="1"/>
                <c:pt idx="0">
                  <c:v>as extreme as ours</c:v>
                </c:pt>
              </c:strCache>
            </c:strRef>
          </c:tx>
          <c:spPr>
            <a:solidFill>
              <a:srgbClr val="C8453F"/>
            </a:solidFill>
          </c:spPr>
          <c:cat>
            <c:strRef>
              <c:f>Sheet1!$A$2:$A$42</c:f>
              <c:strCache>
                <c:ptCount val="41"/>
                <c:pt idx="0">
                  <c:v>-4</c:v>
                </c:pt>
                <c:pt idx="1">
                  <c:v/>
                </c:pt>
                <c:pt idx="2">
                  <c:v/>
                </c:pt>
                <c:pt idx="3">
                  <c:v/>
                </c:pt>
                <c:pt idx="4">
                  <c:v/>
                </c:pt>
                <c:pt idx="5">
                  <c:v>-3</c:v>
                </c:pt>
                <c:pt idx="6">
                  <c:v/>
                </c:pt>
                <c:pt idx="7">
                  <c:v/>
                </c:pt>
                <c:pt idx="8">
                  <c:v/>
                </c:pt>
                <c:pt idx="9">
                  <c:v/>
                </c:pt>
                <c:pt idx="10">
                  <c:v>-2</c:v>
                </c:pt>
                <c:pt idx="11">
                  <c:v/>
                </c:pt>
                <c:pt idx="12">
                  <c:v/>
                </c:pt>
                <c:pt idx="13">
                  <c:v/>
                </c:pt>
                <c:pt idx="14">
                  <c:v/>
                </c:pt>
                <c:pt idx="15">
                  <c:v>-1</c:v>
                </c:pt>
                <c:pt idx="16">
                  <c:v/>
                </c:pt>
                <c:pt idx="17">
                  <c:v/>
                </c:pt>
                <c:pt idx="18">
                  <c:v/>
                </c:pt>
                <c:pt idx="19">
                  <c:v/>
                </c:pt>
                <c:pt idx="20">
                  <c:v>0</c:v>
                </c:pt>
                <c:pt idx="21">
                  <c:v/>
                </c:pt>
                <c:pt idx="22">
                  <c:v/>
                </c:pt>
                <c:pt idx="23">
                  <c:v/>
                </c:pt>
                <c:pt idx="24">
                  <c:v/>
                </c:pt>
                <c:pt idx="25">
                  <c:v>1</c:v>
                </c:pt>
                <c:pt idx="26">
                  <c:v/>
                </c:pt>
                <c:pt idx="27">
                  <c:v/>
                </c:pt>
                <c:pt idx="28">
                  <c:v/>
                </c:pt>
                <c:pt idx="29">
                  <c:v/>
                </c:pt>
                <c:pt idx="30">
                  <c:v>2</c:v>
                </c:pt>
                <c:pt idx="31">
                  <c:v/>
                </c:pt>
                <c:pt idx="32">
                  <c:v/>
                </c:pt>
                <c:pt idx="33">
                  <c:v/>
                </c:pt>
                <c:pt idx="34">
                  <c:v/>
                </c:pt>
                <c:pt idx="35">
                  <c:v>3</c:v>
                </c:pt>
                <c:pt idx="36">
                  <c:v/>
                </c:pt>
                <c:pt idx="37">
                  <c:v/>
                </c:pt>
                <c:pt idx="38">
                  <c:v/>
                </c:pt>
                <c:pt idx="39">
                  <c:v/>
                </c:pt>
                <c:pt idx="40">
                  <c:v>4</c:v>
                </c:pt>
              </c:strCache>
            </c:strRef>
          </c:cat>
          <c:val>
            <c:numRef>
              <c:f>Sheet1!$B$2:$B$42</c:f>
              <c:numCache>
                <c:formatCode>General</c:formatCode>
                <c:ptCount val="41"/>
                <c:pt idx="0">
                  <c:v>0.0001</c:v>
                </c:pt>
                <c:pt idx="1">
                  <c:v>0.0003</c:v>
                </c:pt>
                <c:pt idx="2">
                  <c:v>0.0006</c:v>
                </c:pt>
                <c:pt idx="3">
                  <c:v>0.0012</c:v>
                </c:pt>
                <c:pt idx="4">
                  <c:v>0.0024</c:v>
                </c:pt>
                <c:pt idx="5">
                  <c:v>0.0044</c:v>
                </c:pt>
                <c:pt idx="6">
                  <c:v>0.0079</c:v>
                </c:pt>
                <c:pt idx="7">
                  <c:v>0.0136</c:v>
                </c:pt>
                <c:pt idx="8">
                  <c:v>0.0224</c:v>
                </c:pt>
                <c:pt idx="9">
                  <c:v>0.0355</c:v>
                </c:pt>
                <c:pt idx="10">
                  <c:v>0.0</c:v>
                </c:pt>
                <c:pt idx="11">
                  <c:v>0.0</c:v>
                </c:pt>
                <c:pt idx="12">
                  <c:v>0.0</c:v>
                </c:pt>
                <c:pt idx="13">
                  <c:v>0.0</c:v>
                </c:pt>
                <c:pt idx="14">
                  <c:v>0.0</c:v>
                </c:pt>
                <c:pt idx="15">
                  <c:v>0.0</c:v>
                </c:pt>
                <c:pt idx="16">
                  <c:v>0.0</c:v>
                </c:pt>
                <c:pt idx="17">
                  <c:v>0.0</c:v>
                </c:pt>
                <c:pt idx="18">
                  <c:v>0.0</c:v>
                </c:pt>
                <c:pt idx="19">
                  <c:v>0.0</c:v>
                </c:pt>
                <c:pt idx="20">
                  <c:v>0.0</c:v>
                </c:pt>
                <c:pt idx="21">
                  <c:v>0.0</c:v>
                </c:pt>
                <c:pt idx="22">
                  <c:v>0.0</c:v>
                </c:pt>
                <c:pt idx="23">
                  <c:v>0.0</c:v>
                </c:pt>
                <c:pt idx="24">
                  <c:v>0.0</c:v>
                </c:pt>
                <c:pt idx="25">
                  <c:v>0.0</c:v>
                </c:pt>
                <c:pt idx="26">
                  <c:v>0.0</c:v>
                </c:pt>
                <c:pt idx="27">
                  <c:v>0.0</c:v>
                </c:pt>
                <c:pt idx="28">
                  <c:v>0.0</c:v>
                </c:pt>
                <c:pt idx="29">
                  <c:v>0.0</c:v>
                </c:pt>
                <c:pt idx="30">
                  <c:v>0.0</c:v>
                </c:pt>
                <c:pt idx="31">
                  <c:v>0.0355</c:v>
                </c:pt>
                <c:pt idx="32">
                  <c:v>0.0224</c:v>
                </c:pt>
                <c:pt idx="33">
                  <c:v>0.0136</c:v>
                </c:pt>
                <c:pt idx="34">
                  <c:v>0.0079</c:v>
                </c:pt>
                <c:pt idx="35">
                  <c:v>0.0044</c:v>
                </c:pt>
                <c:pt idx="36">
                  <c:v>0.0024</c:v>
                </c:pt>
                <c:pt idx="37">
                  <c:v>0.0012</c:v>
                </c:pt>
                <c:pt idx="38">
                  <c:v>0.0006</c:v>
                </c:pt>
                <c:pt idx="39">
                  <c:v>0.0003</c:v>
                </c:pt>
                <c:pt idx="40">
                  <c:v>0.0001</c:v>
                </c:pt>
              </c:numCache>
            </c:numRef>
          </c:val>
        </c:ser>
        <c:ser>
          <c:idx val="1"/>
          <c:order val="1"/>
          <c:tx>
            <c:strRef>
              <c:f>Sheet1!$C$1</c:f>
              <c:strCache>
                <c:ptCount val="1"/>
                <c:pt idx="0">
                  <c:v>if nothing is going on (H₀)</c:v>
                </c:pt>
              </c:strCache>
            </c:strRef>
          </c:tx>
          <c:spPr>
            <a:solidFill>
              <a:srgbClr val="B9D8D3"/>
            </a:solidFill>
          </c:spPr>
          <c:cat>
            <c:strRef>
              <c:f>Sheet1!$A$2:$A$42</c:f>
              <c:strCache>
                <c:ptCount val="41"/>
                <c:pt idx="0">
                  <c:v>-4</c:v>
                </c:pt>
                <c:pt idx="1">
                  <c:v/>
                </c:pt>
                <c:pt idx="2">
                  <c:v/>
                </c:pt>
                <c:pt idx="3">
                  <c:v/>
                </c:pt>
                <c:pt idx="4">
                  <c:v/>
                </c:pt>
                <c:pt idx="5">
                  <c:v>-3</c:v>
                </c:pt>
                <c:pt idx="6">
                  <c:v/>
                </c:pt>
                <c:pt idx="7">
                  <c:v/>
                </c:pt>
                <c:pt idx="8">
                  <c:v/>
                </c:pt>
                <c:pt idx="9">
                  <c:v/>
                </c:pt>
                <c:pt idx="10">
                  <c:v>-2</c:v>
                </c:pt>
                <c:pt idx="11">
                  <c:v/>
                </c:pt>
                <c:pt idx="12">
                  <c:v/>
                </c:pt>
                <c:pt idx="13">
                  <c:v/>
                </c:pt>
                <c:pt idx="14">
                  <c:v/>
                </c:pt>
                <c:pt idx="15">
                  <c:v>-1</c:v>
                </c:pt>
                <c:pt idx="16">
                  <c:v/>
                </c:pt>
                <c:pt idx="17">
                  <c:v/>
                </c:pt>
                <c:pt idx="18">
                  <c:v/>
                </c:pt>
                <c:pt idx="19">
                  <c:v/>
                </c:pt>
                <c:pt idx="20">
                  <c:v>0</c:v>
                </c:pt>
                <c:pt idx="21">
                  <c:v/>
                </c:pt>
                <c:pt idx="22">
                  <c:v/>
                </c:pt>
                <c:pt idx="23">
                  <c:v/>
                </c:pt>
                <c:pt idx="24">
                  <c:v/>
                </c:pt>
                <c:pt idx="25">
                  <c:v>1</c:v>
                </c:pt>
                <c:pt idx="26">
                  <c:v/>
                </c:pt>
                <c:pt idx="27">
                  <c:v/>
                </c:pt>
                <c:pt idx="28">
                  <c:v/>
                </c:pt>
                <c:pt idx="29">
                  <c:v/>
                </c:pt>
                <c:pt idx="30">
                  <c:v>2</c:v>
                </c:pt>
                <c:pt idx="31">
                  <c:v/>
                </c:pt>
                <c:pt idx="32">
                  <c:v/>
                </c:pt>
                <c:pt idx="33">
                  <c:v/>
                </c:pt>
                <c:pt idx="34">
                  <c:v/>
                </c:pt>
                <c:pt idx="35">
                  <c:v>3</c:v>
                </c:pt>
                <c:pt idx="36">
                  <c:v/>
                </c:pt>
                <c:pt idx="37">
                  <c:v/>
                </c:pt>
                <c:pt idx="38">
                  <c:v/>
                </c:pt>
                <c:pt idx="39">
                  <c:v/>
                </c:pt>
                <c:pt idx="40">
                  <c:v>4</c:v>
                </c:pt>
              </c:strCache>
            </c:strRef>
          </c:cat>
          <c:val>
            <c:numRef>
              <c:f>Sheet1!$C$2:$C$42</c:f>
              <c:numCache>
                <c:formatCode>General</c:formatCode>
                <c:ptCount val="41"/>
                <c:pt idx="0">
                  <c:v>0.0001</c:v>
                </c:pt>
                <c:pt idx="1">
                  <c:v>0.0003</c:v>
                </c:pt>
                <c:pt idx="2">
                  <c:v>0.0006</c:v>
                </c:pt>
                <c:pt idx="3">
                  <c:v>0.0012</c:v>
                </c:pt>
                <c:pt idx="4">
                  <c:v>0.0024</c:v>
                </c:pt>
                <c:pt idx="5">
                  <c:v>0.0044</c:v>
                </c:pt>
                <c:pt idx="6">
                  <c:v>0.0079</c:v>
                </c:pt>
                <c:pt idx="7">
                  <c:v>0.0136</c:v>
                </c:pt>
                <c:pt idx="8">
                  <c:v>0.0224</c:v>
                </c:pt>
                <c:pt idx="9">
                  <c:v>0.0355</c:v>
                </c:pt>
                <c:pt idx="10">
                  <c:v>0.054</c:v>
                </c:pt>
                <c:pt idx="11">
                  <c:v>0.079</c:v>
                </c:pt>
                <c:pt idx="12">
                  <c:v>0.1109</c:v>
                </c:pt>
                <c:pt idx="13">
                  <c:v>0.1497</c:v>
                </c:pt>
                <c:pt idx="14">
                  <c:v>0.1942</c:v>
                </c:pt>
                <c:pt idx="15">
                  <c:v>0.242</c:v>
                </c:pt>
                <c:pt idx="16">
                  <c:v>0.2897</c:v>
                </c:pt>
                <c:pt idx="17">
                  <c:v>0.3332</c:v>
                </c:pt>
                <c:pt idx="18">
                  <c:v>0.3683</c:v>
                </c:pt>
                <c:pt idx="19">
                  <c:v>0.391</c:v>
                </c:pt>
                <c:pt idx="20">
                  <c:v>0.3989</c:v>
                </c:pt>
                <c:pt idx="21">
                  <c:v>0.391</c:v>
                </c:pt>
                <c:pt idx="22">
                  <c:v>0.3683</c:v>
                </c:pt>
                <c:pt idx="23">
                  <c:v>0.3332</c:v>
                </c:pt>
                <c:pt idx="24">
                  <c:v>0.2897</c:v>
                </c:pt>
                <c:pt idx="25">
                  <c:v>0.242</c:v>
                </c:pt>
                <c:pt idx="26">
                  <c:v>0.1942</c:v>
                </c:pt>
                <c:pt idx="27">
                  <c:v>0.1497</c:v>
                </c:pt>
                <c:pt idx="28">
                  <c:v>0.1109</c:v>
                </c:pt>
                <c:pt idx="29">
                  <c:v>0.079</c:v>
                </c:pt>
                <c:pt idx="30">
                  <c:v>0.054</c:v>
                </c:pt>
                <c:pt idx="31">
                  <c:v>0.0355</c:v>
                </c:pt>
                <c:pt idx="32">
                  <c:v>0.0224</c:v>
                </c:pt>
                <c:pt idx="33">
                  <c:v>0.0136</c:v>
                </c:pt>
                <c:pt idx="34">
                  <c:v>0.0079</c:v>
                </c:pt>
                <c:pt idx="35">
                  <c:v>0.0044</c:v>
                </c:pt>
                <c:pt idx="36">
                  <c:v>0.0024</c:v>
                </c:pt>
                <c:pt idx="37">
                  <c:v>0.0012</c:v>
                </c:pt>
                <c:pt idx="38">
                  <c:v>0.0006</c:v>
                </c:pt>
                <c:pt idx="39">
                  <c:v>0.0003</c:v>
                </c:pt>
                <c:pt idx="40">
                  <c:v>0.0001</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title>
          <c:tx>
            <c:rich>
              <a:bodyPr/>
              <a:lstStyle/>
              <a:p>
                <a:r>
                  <a:rPr sz="1200" b="0">
                    <a:solidFill>
                      <a:srgbClr val="5C6F6E"/>
                    </a:solidFill>
                    <a:latin typeface="Calibri"/>
                  </a:rPr>
                  <a:t>test statistic t (how many SEs from ‘no effect’)</a:t>
                </a:r>
              </a:p>
            </c:rich>
          </c:tx>
          <c:layout/>
          <c:overlay val="0"/>
        </c:title>
        <c:numFmt formatCode="General" sourceLinked="1"/>
        <c:majorTickMark val="out"/>
        <c:minorTickMark val="none"/>
        <c:tickLblPos val="nextTo"/>
        <c:spPr>
          <a:ln>
            <a:solidFill>
              <a:srgbClr val="5C6F6E"/>
            </a:solidFill>
          </a:ln>
        </c:spPr>
        <c:crossAx val="-2100718248"/>
        <c:crosses val="autoZero"/>
        <c:auto val="1"/>
        <c:lblAlgn val="ctr"/>
        <c:lblOffset val="100"/>
        <c:noMultiLvlLbl val="0"/>
      </c:catAx>
      <c:valAx>
        <c:axId val="-2100718248"/>
        <c:scaling>
          <c:orientation val="minMax"/>
        </c:scaling>
        <c:delete val="0"/>
        <c:axPos val="l"/>
        <c:majorGridlines>
          <c:spPr>
            <a:ln>
              <a:solidFill>
                <a:srgbClr val="CFE5E1"/>
              </a:solidFill>
            </a:ln>
          </c:spPr>
        </c:majorGridlines>
        <c:title>
          <c:tx>
            <c:rich>
              <a:bodyPr/>
              <a:lstStyle/>
              <a:p>
                <a:r>
                  <a:rPr sz="1200" b="0">
                    <a:solidFill>
                      <a:srgbClr val="5C6F6E"/>
                    </a:solidFill>
                    <a:latin typeface="Calibri"/>
                  </a:rPr>
                  <a:t>density</a:t>
                </a:r>
              </a:p>
            </c:rich>
          </c:tx>
          <c:layout/>
          <c:overlay val="0"/>
        </c:title>
        <c:numFmt formatCode="General" sourceLinked="1"/>
        <c:majorTickMark val="out"/>
        <c:minorTickMark val="none"/>
        <c:tickLblPos val="nextTo"/>
        <c:spPr>
          <a:ln>
            <a:noFill/>
          </a:ln>
        </c:spPr>
        <c:crossAx val="-2101159928"/>
        <c:crosses val="autoZero"/>
        <c:crossBetween val="midCat"/>
      </c:valAx>
    </c:plotArea>
    <c:plotVisOnly val="1"/>
    <c:dispBlanksAs val="zero"/>
    <c:showDLblsOverMax val="0"/>
  </c:chart>
  <c:txPr>
    <a:bodyPr/>
    <a:lstStyle/>
    <a:p>
      <a:pPr>
        <a:defRPr sz="1200">
          <a:solidFill>
            <a:srgbClr val="5C6F6E"/>
          </a:solidFill>
          <a:latin typeface="Calibri"/>
        </a:defRPr>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group 1</c:v>
                </c:pt>
              </c:strCache>
            </c:strRef>
          </c:tx>
          <c:spPr>
            <a:ln w="44450">
              <a:solidFill>
                <a:srgbClr val="1F7A78"/>
              </a:solidFill>
            </a:ln>
          </c:spPr>
          <c:marker>
            <c:symbol val="none"/>
          </c:marker>
          <c:cat>
            <c:strRef>
              <c:f>Sheet1!$A$2:$A$30</c:f>
              <c:strCache>
                <c:ptCount val="29"/>
                <c:pt idx="0">
                  <c:v>-3</c:v>
                </c:pt>
                <c:pt idx="1">
                  <c:v/>
                </c:pt>
                <c:pt idx="2">
                  <c:v/>
                </c:pt>
                <c:pt idx="3">
                  <c:v/>
                </c:pt>
                <c:pt idx="4">
                  <c:v>-2</c:v>
                </c:pt>
                <c:pt idx="5">
                  <c:v/>
                </c:pt>
                <c:pt idx="6">
                  <c:v/>
                </c:pt>
                <c:pt idx="7">
                  <c:v/>
                </c:pt>
                <c:pt idx="8">
                  <c:v>-1</c:v>
                </c:pt>
                <c:pt idx="9">
                  <c:v/>
                </c:pt>
                <c:pt idx="10">
                  <c:v/>
                </c:pt>
                <c:pt idx="11">
                  <c:v/>
                </c:pt>
                <c:pt idx="12">
                  <c:v>0</c:v>
                </c:pt>
                <c:pt idx="13">
                  <c:v/>
                </c:pt>
                <c:pt idx="14">
                  <c:v/>
                </c:pt>
                <c:pt idx="15">
                  <c:v/>
                </c:pt>
                <c:pt idx="16">
                  <c:v>1</c:v>
                </c:pt>
                <c:pt idx="17">
                  <c:v/>
                </c:pt>
                <c:pt idx="18">
                  <c:v/>
                </c:pt>
                <c:pt idx="19">
                  <c:v/>
                </c:pt>
                <c:pt idx="20">
                  <c:v>2</c:v>
                </c:pt>
                <c:pt idx="21">
                  <c:v/>
                </c:pt>
                <c:pt idx="22">
                  <c:v/>
                </c:pt>
                <c:pt idx="23">
                  <c:v/>
                </c:pt>
                <c:pt idx="24">
                  <c:v>3</c:v>
                </c:pt>
                <c:pt idx="25">
                  <c:v/>
                </c:pt>
                <c:pt idx="26">
                  <c:v/>
                </c:pt>
                <c:pt idx="27">
                  <c:v/>
                </c:pt>
                <c:pt idx="28">
                  <c:v>4</c:v>
                </c:pt>
              </c:strCache>
            </c:strRef>
          </c:cat>
          <c:val>
            <c:numRef>
              <c:f>Sheet1!$B$2:$B$30</c:f>
              <c:numCache>
                <c:formatCode>General</c:formatCode>
                <c:ptCount val="29"/>
                <c:pt idx="0">
                  <c:v>0.0044</c:v>
                </c:pt>
                <c:pt idx="1">
                  <c:v>0.0091</c:v>
                </c:pt>
                <c:pt idx="2">
                  <c:v>0.0175</c:v>
                </c:pt>
                <c:pt idx="3">
                  <c:v>0.0317</c:v>
                </c:pt>
                <c:pt idx="4">
                  <c:v>0.054</c:v>
                </c:pt>
                <c:pt idx="5">
                  <c:v>0.0863</c:v>
                </c:pt>
                <c:pt idx="6">
                  <c:v>0.1295</c:v>
                </c:pt>
                <c:pt idx="7">
                  <c:v>0.1826</c:v>
                </c:pt>
                <c:pt idx="8">
                  <c:v>0.242</c:v>
                </c:pt>
                <c:pt idx="9">
                  <c:v>0.3011</c:v>
                </c:pt>
                <c:pt idx="10">
                  <c:v>0.3521</c:v>
                </c:pt>
                <c:pt idx="11">
                  <c:v>0.3867</c:v>
                </c:pt>
                <c:pt idx="12">
                  <c:v>0.3989</c:v>
                </c:pt>
                <c:pt idx="13">
                  <c:v>0.3867</c:v>
                </c:pt>
                <c:pt idx="14">
                  <c:v>0.3521</c:v>
                </c:pt>
                <c:pt idx="15">
                  <c:v>0.3011</c:v>
                </c:pt>
                <c:pt idx="16">
                  <c:v>0.242</c:v>
                </c:pt>
                <c:pt idx="17">
                  <c:v>0.1826</c:v>
                </c:pt>
                <c:pt idx="18">
                  <c:v>0.1295</c:v>
                </c:pt>
                <c:pt idx="19">
                  <c:v>0.0863</c:v>
                </c:pt>
                <c:pt idx="20">
                  <c:v>0.054</c:v>
                </c:pt>
                <c:pt idx="21">
                  <c:v>0.0317</c:v>
                </c:pt>
                <c:pt idx="22">
                  <c:v>0.0175</c:v>
                </c:pt>
                <c:pt idx="23">
                  <c:v>0.0091</c:v>
                </c:pt>
                <c:pt idx="24">
                  <c:v>0.0044</c:v>
                </c:pt>
                <c:pt idx="25">
                  <c:v>0.002</c:v>
                </c:pt>
                <c:pt idx="26">
                  <c:v>0.0009</c:v>
                </c:pt>
                <c:pt idx="27">
                  <c:v>0.0004</c:v>
                </c:pt>
                <c:pt idx="28">
                  <c:v>0.0001</c:v>
                </c:pt>
              </c:numCache>
            </c:numRef>
          </c:val>
          <c:smooth/>
        </c:ser>
        <c:ser>
          <c:idx val="1"/>
          <c:order val="1"/>
          <c:tx>
            <c:strRef>
              <c:f>Sheet1!$C$1</c:f>
              <c:strCache>
                <c:ptCount val="1"/>
                <c:pt idx="0">
                  <c:v>group 2</c:v>
                </c:pt>
              </c:strCache>
            </c:strRef>
          </c:tx>
          <c:spPr>
            <a:ln w="44450">
              <a:solidFill>
                <a:srgbClr val="E08A00"/>
              </a:solidFill>
            </a:ln>
          </c:spPr>
          <c:marker>
            <c:symbol val="none"/>
          </c:marker>
          <c:cat>
            <c:strRef>
              <c:f>Sheet1!$A$2:$A$30</c:f>
              <c:strCache>
                <c:ptCount val="29"/>
                <c:pt idx="0">
                  <c:v>-3</c:v>
                </c:pt>
                <c:pt idx="1">
                  <c:v/>
                </c:pt>
                <c:pt idx="2">
                  <c:v/>
                </c:pt>
                <c:pt idx="3">
                  <c:v/>
                </c:pt>
                <c:pt idx="4">
                  <c:v>-2</c:v>
                </c:pt>
                <c:pt idx="5">
                  <c:v/>
                </c:pt>
                <c:pt idx="6">
                  <c:v/>
                </c:pt>
                <c:pt idx="7">
                  <c:v/>
                </c:pt>
                <c:pt idx="8">
                  <c:v>-1</c:v>
                </c:pt>
                <c:pt idx="9">
                  <c:v/>
                </c:pt>
                <c:pt idx="10">
                  <c:v/>
                </c:pt>
                <c:pt idx="11">
                  <c:v/>
                </c:pt>
                <c:pt idx="12">
                  <c:v>0</c:v>
                </c:pt>
                <c:pt idx="13">
                  <c:v/>
                </c:pt>
                <c:pt idx="14">
                  <c:v/>
                </c:pt>
                <c:pt idx="15">
                  <c:v/>
                </c:pt>
                <c:pt idx="16">
                  <c:v>1</c:v>
                </c:pt>
                <c:pt idx="17">
                  <c:v/>
                </c:pt>
                <c:pt idx="18">
                  <c:v/>
                </c:pt>
                <c:pt idx="19">
                  <c:v/>
                </c:pt>
                <c:pt idx="20">
                  <c:v>2</c:v>
                </c:pt>
                <c:pt idx="21">
                  <c:v/>
                </c:pt>
                <c:pt idx="22">
                  <c:v/>
                </c:pt>
                <c:pt idx="23">
                  <c:v/>
                </c:pt>
                <c:pt idx="24">
                  <c:v>3</c:v>
                </c:pt>
                <c:pt idx="25">
                  <c:v/>
                </c:pt>
                <c:pt idx="26">
                  <c:v/>
                </c:pt>
                <c:pt idx="27">
                  <c:v/>
                </c:pt>
                <c:pt idx="28">
                  <c:v>4</c:v>
                </c:pt>
              </c:strCache>
            </c:strRef>
          </c:cat>
          <c:val>
            <c:numRef>
              <c:f>Sheet1!$C$2:$C$30</c:f>
              <c:numCache>
                <c:formatCode>General</c:formatCode>
                <c:ptCount val="29"/>
                <c:pt idx="0">
                  <c:v>0.0024</c:v>
                </c:pt>
                <c:pt idx="1">
                  <c:v>0.0051</c:v>
                </c:pt>
                <c:pt idx="2">
                  <c:v>0.0104</c:v>
                </c:pt>
                <c:pt idx="3">
                  <c:v>0.0198</c:v>
                </c:pt>
                <c:pt idx="4">
                  <c:v>0.0355</c:v>
                </c:pt>
                <c:pt idx="5">
                  <c:v>0.0596</c:v>
                </c:pt>
                <c:pt idx="6">
                  <c:v>0.094</c:v>
                </c:pt>
                <c:pt idx="7">
                  <c:v>0.1394</c:v>
                </c:pt>
                <c:pt idx="8">
                  <c:v>0.1942</c:v>
                </c:pt>
                <c:pt idx="9">
                  <c:v>0.2541</c:v>
                </c:pt>
                <c:pt idx="10">
                  <c:v>0.3123</c:v>
                </c:pt>
                <c:pt idx="11">
                  <c:v>0.3605</c:v>
                </c:pt>
                <c:pt idx="12">
                  <c:v>0.391</c:v>
                </c:pt>
                <c:pt idx="13">
                  <c:v>0.3984</c:v>
                </c:pt>
                <c:pt idx="14">
                  <c:v>0.3814</c:v>
                </c:pt>
                <c:pt idx="15">
                  <c:v>0.3429</c:v>
                </c:pt>
                <c:pt idx="16">
                  <c:v>0.2897</c:v>
                </c:pt>
                <c:pt idx="17">
                  <c:v>0.2299</c:v>
                </c:pt>
                <c:pt idx="18">
                  <c:v>0.1714</c:v>
                </c:pt>
                <c:pt idx="19">
                  <c:v>0.12</c:v>
                </c:pt>
                <c:pt idx="20">
                  <c:v>0.079</c:v>
                </c:pt>
                <c:pt idx="21">
                  <c:v>0.0488</c:v>
                </c:pt>
                <c:pt idx="22">
                  <c:v>0.0283</c:v>
                </c:pt>
                <c:pt idx="23">
                  <c:v>0.0154</c:v>
                </c:pt>
                <c:pt idx="24">
                  <c:v>0.0079</c:v>
                </c:pt>
                <c:pt idx="25">
                  <c:v>0.0038</c:v>
                </c:pt>
                <c:pt idx="26">
                  <c:v>0.0017</c:v>
                </c:pt>
                <c:pt idx="27">
                  <c:v>0.0007</c:v>
                </c:pt>
                <c:pt idx="28">
                  <c:v>0.0003</c:v>
                </c:pt>
              </c:numCache>
            </c:numRef>
          </c:val>
          <c:smooth/>
        </c:ser>
        <c:marker val="1"/>
        <c:smooth val="0"/>
        <c:axId val="2118791784"/>
        <c:axId val="2140495176"/>
      </c:lineChart>
      <c:catAx>
        <c:axId val="2118791784"/>
        <c:scaling>
          <c:orientation val="minMax"/>
        </c:scaling>
        <c:delete val="0"/>
        <c:axPos val="b"/>
        <c:title>
          <c:tx>
            <c:rich>
              <a:bodyPr/>
              <a:lstStyle/>
              <a:p>
                <a:r>
                  <a:rPr sz="1200" b="0">
                    <a:solidFill>
                      <a:srgbClr val="5C6F6E"/>
                    </a:solidFill>
                    <a:latin typeface="Calibri"/>
                  </a:rPr>
                  <a:t>SDs</a:t>
                </a:r>
              </a:p>
            </c:rich>
          </c:tx>
          <c:layout/>
          <c:overlay val="0"/>
        </c:title>
        <c:majorTickMark val="out"/>
        <c:minorTickMark val="none"/>
        <c:tickLblPos val="nextTo"/>
        <c:spPr>
          <a:ln>
            <a:solidFill>
              <a:srgbClr val="5C6F6E"/>
            </a:solidFill>
          </a:ln>
        </c:spPr>
        <c:crossAx val="2140495176"/>
        <c:crosses val="autoZero"/>
        <c:auto val="1"/>
        <c:lblAlgn val="ctr"/>
        <c:lblOffset val="100"/>
        <c:noMultiLvlLbl val="0"/>
      </c:catAx>
      <c:valAx>
        <c:axId val="2140495176"/>
        <c:scaling/>
        <c:delete/>
        <c:axPos val="l"/>
        <c:majorGridlines>
          <c:spPr>
            <a:ln>
              <a:solidFill>
                <a:srgbClr val="CFE5E1"/>
              </a:solidFill>
            </a:ln>
          </c:spPr>
        </c:majorGridlines>
        <c:title>
          <c:tx>
            <c:rich>
              <a:bodyPr/>
              <a:lstStyle/>
              <a:p>
                <a:r>
                  <a:rPr sz="1200" b="0">
                    <a:solidFill>
                      <a:srgbClr val="5C6F6E"/>
                    </a:solidFill>
                    <a:latin typeface="Calibri"/>
                  </a:rPr>
                  <a:t> </a:t>
                </a:r>
              </a:p>
            </c:rich>
          </c:tx>
          <c:layout/>
          <c:overlay val="0"/>
        </c:title>
        <c:majorTickMark val="out"/>
        <c:minorTickMark val="none"/>
        <c:tickLblPos val="nextTo"/>
        <c:spPr>
          <a:ln>
            <a:noFill/>
          </a:ln>
        </c:spPr>
        <c:crossAx val="2118791784"/>
        <c:crosses val="autoZero"/>
      </c:valAx>
    </c:plotArea>
    <c:plotVisOnly val="1"/>
    <c:dispBlanksAs val="gap"/>
    <c:showDLblsOverMax val="0"/>
  </c:chart>
  <c:txPr>
    <a:bodyPr/>
    <a:lstStyle/>
    <a:p>
      <a:pPr>
        <a:defRPr sz="1200">
          <a:solidFill>
            <a:srgbClr val="5C6F6E"/>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group 1</c:v>
                </c:pt>
              </c:strCache>
            </c:strRef>
          </c:tx>
          <c:spPr>
            <a:ln w="44450">
              <a:solidFill>
                <a:srgbClr val="1F7A78"/>
              </a:solidFill>
            </a:ln>
          </c:spPr>
          <c:marker>
            <c:symbol val="none"/>
          </c:marker>
          <c:cat>
            <c:strRef>
              <c:f>Sheet1!$A$2:$A$30</c:f>
              <c:strCache>
                <c:ptCount val="29"/>
                <c:pt idx="0">
                  <c:v>-3</c:v>
                </c:pt>
                <c:pt idx="1">
                  <c:v/>
                </c:pt>
                <c:pt idx="2">
                  <c:v/>
                </c:pt>
                <c:pt idx="3">
                  <c:v/>
                </c:pt>
                <c:pt idx="4">
                  <c:v>-2</c:v>
                </c:pt>
                <c:pt idx="5">
                  <c:v/>
                </c:pt>
                <c:pt idx="6">
                  <c:v/>
                </c:pt>
                <c:pt idx="7">
                  <c:v/>
                </c:pt>
                <c:pt idx="8">
                  <c:v>-1</c:v>
                </c:pt>
                <c:pt idx="9">
                  <c:v/>
                </c:pt>
                <c:pt idx="10">
                  <c:v/>
                </c:pt>
                <c:pt idx="11">
                  <c:v/>
                </c:pt>
                <c:pt idx="12">
                  <c:v>0</c:v>
                </c:pt>
                <c:pt idx="13">
                  <c:v/>
                </c:pt>
                <c:pt idx="14">
                  <c:v/>
                </c:pt>
                <c:pt idx="15">
                  <c:v/>
                </c:pt>
                <c:pt idx="16">
                  <c:v>1</c:v>
                </c:pt>
                <c:pt idx="17">
                  <c:v/>
                </c:pt>
                <c:pt idx="18">
                  <c:v/>
                </c:pt>
                <c:pt idx="19">
                  <c:v/>
                </c:pt>
                <c:pt idx="20">
                  <c:v>2</c:v>
                </c:pt>
                <c:pt idx="21">
                  <c:v/>
                </c:pt>
                <c:pt idx="22">
                  <c:v/>
                </c:pt>
                <c:pt idx="23">
                  <c:v/>
                </c:pt>
                <c:pt idx="24">
                  <c:v>3</c:v>
                </c:pt>
                <c:pt idx="25">
                  <c:v/>
                </c:pt>
                <c:pt idx="26">
                  <c:v/>
                </c:pt>
                <c:pt idx="27">
                  <c:v/>
                </c:pt>
                <c:pt idx="28">
                  <c:v>4</c:v>
                </c:pt>
              </c:strCache>
            </c:strRef>
          </c:cat>
          <c:val>
            <c:numRef>
              <c:f>Sheet1!$B$2:$B$30</c:f>
              <c:numCache>
                <c:formatCode>General</c:formatCode>
                <c:ptCount val="29"/>
                <c:pt idx="0">
                  <c:v>0.0044</c:v>
                </c:pt>
                <c:pt idx="1">
                  <c:v>0.0091</c:v>
                </c:pt>
                <c:pt idx="2">
                  <c:v>0.0175</c:v>
                </c:pt>
                <c:pt idx="3">
                  <c:v>0.0317</c:v>
                </c:pt>
                <c:pt idx="4">
                  <c:v>0.054</c:v>
                </c:pt>
                <c:pt idx="5">
                  <c:v>0.0863</c:v>
                </c:pt>
                <c:pt idx="6">
                  <c:v>0.1295</c:v>
                </c:pt>
                <c:pt idx="7">
                  <c:v>0.1826</c:v>
                </c:pt>
                <c:pt idx="8">
                  <c:v>0.242</c:v>
                </c:pt>
                <c:pt idx="9">
                  <c:v>0.3011</c:v>
                </c:pt>
                <c:pt idx="10">
                  <c:v>0.3521</c:v>
                </c:pt>
                <c:pt idx="11">
                  <c:v>0.3867</c:v>
                </c:pt>
                <c:pt idx="12">
                  <c:v>0.3989</c:v>
                </c:pt>
                <c:pt idx="13">
                  <c:v>0.3867</c:v>
                </c:pt>
                <c:pt idx="14">
                  <c:v>0.3521</c:v>
                </c:pt>
                <c:pt idx="15">
                  <c:v>0.3011</c:v>
                </c:pt>
                <c:pt idx="16">
                  <c:v>0.242</c:v>
                </c:pt>
                <c:pt idx="17">
                  <c:v>0.1826</c:v>
                </c:pt>
                <c:pt idx="18">
                  <c:v>0.1295</c:v>
                </c:pt>
                <c:pt idx="19">
                  <c:v>0.0863</c:v>
                </c:pt>
                <c:pt idx="20">
                  <c:v>0.054</c:v>
                </c:pt>
                <c:pt idx="21">
                  <c:v>0.0317</c:v>
                </c:pt>
                <c:pt idx="22">
                  <c:v>0.0175</c:v>
                </c:pt>
                <c:pt idx="23">
                  <c:v>0.0091</c:v>
                </c:pt>
                <c:pt idx="24">
                  <c:v>0.0044</c:v>
                </c:pt>
                <c:pt idx="25">
                  <c:v>0.002</c:v>
                </c:pt>
                <c:pt idx="26">
                  <c:v>0.0009</c:v>
                </c:pt>
                <c:pt idx="27">
                  <c:v>0.0004</c:v>
                </c:pt>
                <c:pt idx="28">
                  <c:v>0.0001</c:v>
                </c:pt>
              </c:numCache>
            </c:numRef>
          </c:val>
          <c:smooth/>
        </c:ser>
        <c:ser>
          <c:idx val="1"/>
          <c:order val="1"/>
          <c:tx>
            <c:strRef>
              <c:f>Sheet1!$C$1</c:f>
              <c:strCache>
                <c:ptCount val="1"/>
                <c:pt idx="0">
                  <c:v>group 2</c:v>
                </c:pt>
              </c:strCache>
            </c:strRef>
          </c:tx>
          <c:spPr>
            <a:ln w="44450">
              <a:solidFill>
                <a:srgbClr val="E08A00"/>
              </a:solidFill>
            </a:ln>
          </c:spPr>
          <c:marker>
            <c:symbol val="none"/>
          </c:marker>
          <c:cat>
            <c:strRef>
              <c:f>Sheet1!$A$2:$A$30</c:f>
              <c:strCache>
                <c:ptCount val="29"/>
                <c:pt idx="0">
                  <c:v>-3</c:v>
                </c:pt>
                <c:pt idx="1">
                  <c:v/>
                </c:pt>
                <c:pt idx="2">
                  <c:v/>
                </c:pt>
                <c:pt idx="3">
                  <c:v/>
                </c:pt>
                <c:pt idx="4">
                  <c:v>-2</c:v>
                </c:pt>
                <c:pt idx="5">
                  <c:v/>
                </c:pt>
                <c:pt idx="6">
                  <c:v/>
                </c:pt>
                <c:pt idx="7">
                  <c:v/>
                </c:pt>
                <c:pt idx="8">
                  <c:v>-1</c:v>
                </c:pt>
                <c:pt idx="9">
                  <c:v/>
                </c:pt>
                <c:pt idx="10">
                  <c:v/>
                </c:pt>
                <c:pt idx="11">
                  <c:v/>
                </c:pt>
                <c:pt idx="12">
                  <c:v>0</c:v>
                </c:pt>
                <c:pt idx="13">
                  <c:v/>
                </c:pt>
                <c:pt idx="14">
                  <c:v/>
                </c:pt>
                <c:pt idx="15">
                  <c:v/>
                </c:pt>
                <c:pt idx="16">
                  <c:v>1</c:v>
                </c:pt>
                <c:pt idx="17">
                  <c:v/>
                </c:pt>
                <c:pt idx="18">
                  <c:v/>
                </c:pt>
                <c:pt idx="19">
                  <c:v/>
                </c:pt>
                <c:pt idx="20">
                  <c:v>2</c:v>
                </c:pt>
                <c:pt idx="21">
                  <c:v/>
                </c:pt>
                <c:pt idx="22">
                  <c:v/>
                </c:pt>
                <c:pt idx="23">
                  <c:v/>
                </c:pt>
                <c:pt idx="24">
                  <c:v>3</c:v>
                </c:pt>
                <c:pt idx="25">
                  <c:v/>
                </c:pt>
                <c:pt idx="26">
                  <c:v/>
                </c:pt>
                <c:pt idx="27">
                  <c:v/>
                </c:pt>
                <c:pt idx="28">
                  <c:v>4</c:v>
                </c:pt>
              </c:strCache>
            </c:strRef>
          </c:cat>
          <c:val>
            <c:numRef>
              <c:f>Sheet1!$C$2:$C$30</c:f>
              <c:numCache>
                <c:formatCode>General</c:formatCode>
                <c:ptCount val="29"/>
                <c:pt idx="0">
                  <c:v>0.0009</c:v>
                </c:pt>
                <c:pt idx="1">
                  <c:v>0.002</c:v>
                </c:pt>
                <c:pt idx="2">
                  <c:v>0.0044</c:v>
                </c:pt>
                <c:pt idx="3">
                  <c:v>0.0091</c:v>
                </c:pt>
                <c:pt idx="4">
                  <c:v>0.0175</c:v>
                </c:pt>
                <c:pt idx="5">
                  <c:v>0.0317</c:v>
                </c:pt>
                <c:pt idx="6">
                  <c:v>0.054</c:v>
                </c:pt>
                <c:pt idx="7">
                  <c:v>0.0863</c:v>
                </c:pt>
                <c:pt idx="8">
                  <c:v>0.1295</c:v>
                </c:pt>
                <c:pt idx="9">
                  <c:v>0.1826</c:v>
                </c:pt>
                <c:pt idx="10">
                  <c:v>0.242</c:v>
                </c:pt>
                <c:pt idx="11">
                  <c:v>0.3011</c:v>
                </c:pt>
                <c:pt idx="12">
                  <c:v>0.3521</c:v>
                </c:pt>
                <c:pt idx="13">
                  <c:v>0.3867</c:v>
                </c:pt>
                <c:pt idx="14">
                  <c:v>0.3989</c:v>
                </c:pt>
                <c:pt idx="15">
                  <c:v>0.3867</c:v>
                </c:pt>
                <c:pt idx="16">
                  <c:v>0.3521</c:v>
                </c:pt>
                <c:pt idx="17">
                  <c:v>0.3011</c:v>
                </c:pt>
                <c:pt idx="18">
                  <c:v>0.242</c:v>
                </c:pt>
                <c:pt idx="19">
                  <c:v>0.1826</c:v>
                </c:pt>
                <c:pt idx="20">
                  <c:v>0.1295</c:v>
                </c:pt>
                <c:pt idx="21">
                  <c:v>0.0863</c:v>
                </c:pt>
                <c:pt idx="22">
                  <c:v>0.054</c:v>
                </c:pt>
                <c:pt idx="23">
                  <c:v>0.0317</c:v>
                </c:pt>
                <c:pt idx="24">
                  <c:v>0.0175</c:v>
                </c:pt>
                <c:pt idx="25">
                  <c:v>0.0091</c:v>
                </c:pt>
                <c:pt idx="26">
                  <c:v>0.0044</c:v>
                </c:pt>
                <c:pt idx="27">
                  <c:v>0.002</c:v>
                </c:pt>
                <c:pt idx="28">
                  <c:v>0.0009</c:v>
                </c:pt>
              </c:numCache>
            </c:numRef>
          </c:val>
          <c:smooth/>
        </c:ser>
        <c:marker val="1"/>
        <c:smooth val="0"/>
        <c:axId val="2118791784"/>
        <c:axId val="2140495176"/>
      </c:lineChart>
      <c:catAx>
        <c:axId val="2118791784"/>
        <c:scaling>
          <c:orientation val="minMax"/>
        </c:scaling>
        <c:delete val="0"/>
        <c:axPos val="b"/>
        <c:title>
          <c:tx>
            <c:rich>
              <a:bodyPr/>
              <a:lstStyle/>
              <a:p>
                <a:r>
                  <a:rPr sz="1200" b="0">
                    <a:solidFill>
                      <a:srgbClr val="5C6F6E"/>
                    </a:solidFill>
                    <a:latin typeface="Calibri"/>
                  </a:rPr>
                  <a:t>SDs</a:t>
                </a:r>
              </a:p>
            </c:rich>
          </c:tx>
          <c:layout/>
          <c:overlay val="0"/>
        </c:title>
        <c:majorTickMark val="out"/>
        <c:minorTickMark val="none"/>
        <c:tickLblPos val="nextTo"/>
        <c:spPr>
          <a:ln>
            <a:solidFill>
              <a:srgbClr val="5C6F6E"/>
            </a:solidFill>
          </a:ln>
        </c:spPr>
        <c:crossAx val="2140495176"/>
        <c:crosses val="autoZero"/>
        <c:auto val="1"/>
        <c:lblAlgn val="ctr"/>
        <c:lblOffset val="100"/>
        <c:noMultiLvlLbl val="0"/>
      </c:catAx>
      <c:valAx>
        <c:axId val="2140495176"/>
        <c:scaling/>
        <c:delete/>
        <c:axPos val="l"/>
        <c:majorGridlines>
          <c:spPr>
            <a:ln>
              <a:solidFill>
                <a:srgbClr val="CFE5E1"/>
              </a:solidFill>
            </a:ln>
          </c:spPr>
        </c:majorGridlines>
        <c:title>
          <c:tx>
            <c:rich>
              <a:bodyPr/>
              <a:lstStyle/>
              <a:p>
                <a:r>
                  <a:rPr sz="1200" b="0">
                    <a:solidFill>
                      <a:srgbClr val="5C6F6E"/>
                    </a:solidFill>
                    <a:latin typeface="Calibri"/>
                  </a:rPr>
                  <a:t> </a:t>
                </a:r>
              </a:p>
            </c:rich>
          </c:tx>
          <c:layout/>
          <c:overlay val="0"/>
        </c:title>
        <c:majorTickMark val="out"/>
        <c:minorTickMark val="none"/>
        <c:tickLblPos val="nextTo"/>
        <c:spPr>
          <a:ln>
            <a:noFill/>
          </a:ln>
        </c:spPr>
        <c:crossAx val="2118791784"/>
        <c:crosses val="autoZero"/>
      </c:valAx>
    </c:plotArea>
    <c:plotVisOnly val="1"/>
    <c:dispBlanksAs val="gap"/>
    <c:showDLblsOverMax val="0"/>
  </c:chart>
  <c:txPr>
    <a:bodyPr/>
    <a:lstStyle/>
    <a:p>
      <a:pPr>
        <a:defRPr sz="1200">
          <a:solidFill>
            <a:srgbClr val="5C6F6E"/>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group 1</c:v>
                </c:pt>
              </c:strCache>
            </c:strRef>
          </c:tx>
          <c:spPr>
            <a:ln w="44450">
              <a:solidFill>
                <a:srgbClr val="1F7A78"/>
              </a:solidFill>
            </a:ln>
          </c:spPr>
          <c:marker>
            <c:symbol val="none"/>
          </c:marker>
          <c:cat>
            <c:strRef>
              <c:f>Sheet1!$A$2:$A$30</c:f>
              <c:strCache>
                <c:ptCount val="29"/>
                <c:pt idx="0">
                  <c:v>-3</c:v>
                </c:pt>
                <c:pt idx="1">
                  <c:v/>
                </c:pt>
                <c:pt idx="2">
                  <c:v/>
                </c:pt>
                <c:pt idx="3">
                  <c:v/>
                </c:pt>
                <c:pt idx="4">
                  <c:v>-2</c:v>
                </c:pt>
                <c:pt idx="5">
                  <c:v/>
                </c:pt>
                <c:pt idx="6">
                  <c:v/>
                </c:pt>
                <c:pt idx="7">
                  <c:v/>
                </c:pt>
                <c:pt idx="8">
                  <c:v>-1</c:v>
                </c:pt>
                <c:pt idx="9">
                  <c:v/>
                </c:pt>
                <c:pt idx="10">
                  <c:v/>
                </c:pt>
                <c:pt idx="11">
                  <c:v/>
                </c:pt>
                <c:pt idx="12">
                  <c:v>0</c:v>
                </c:pt>
                <c:pt idx="13">
                  <c:v/>
                </c:pt>
                <c:pt idx="14">
                  <c:v/>
                </c:pt>
                <c:pt idx="15">
                  <c:v/>
                </c:pt>
                <c:pt idx="16">
                  <c:v>1</c:v>
                </c:pt>
                <c:pt idx="17">
                  <c:v/>
                </c:pt>
                <c:pt idx="18">
                  <c:v/>
                </c:pt>
                <c:pt idx="19">
                  <c:v/>
                </c:pt>
                <c:pt idx="20">
                  <c:v>2</c:v>
                </c:pt>
                <c:pt idx="21">
                  <c:v/>
                </c:pt>
                <c:pt idx="22">
                  <c:v/>
                </c:pt>
                <c:pt idx="23">
                  <c:v/>
                </c:pt>
                <c:pt idx="24">
                  <c:v>3</c:v>
                </c:pt>
                <c:pt idx="25">
                  <c:v/>
                </c:pt>
                <c:pt idx="26">
                  <c:v/>
                </c:pt>
                <c:pt idx="27">
                  <c:v/>
                </c:pt>
                <c:pt idx="28">
                  <c:v>4</c:v>
                </c:pt>
              </c:strCache>
            </c:strRef>
          </c:cat>
          <c:val>
            <c:numRef>
              <c:f>Sheet1!$B$2:$B$30</c:f>
              <c:numCache>
                <c:formatCode>General</c:formatCode>
                <c:ptCount val="29"/>
                <c:pt idx="0">
                  <c:v>0.0044</c:v>
                </c:pt>
                <c:pt idx="1">
                  <c:v>0.0091</c:v>
                </c:pt>
                <c:pt idx="2">
                  <c:v>0.0175</c:v>
                </c:pt>
                <c:pt idx="3">
                  <c:v>0.0317</c:v>
                </c:pt>
                <c:pt idx="4">
                  <c:v>0.054</c:v>
                </c:pt>
                <c:pt idx="5">
                  <c:v>0.0863</c:v>
                </c:pt>
                <c:pt idx="6">
                  <c:v>0.1295</c:v>
                </c:pt>
                <c:pt idx="7">
                  <c:v>0.1826</c:v>
                </c:pt>
                <c:pt idx="8">
                  <c:v>0.242</c:v>
                </c:pt>
                <c:pt idx="9">
                  <c:v>0.3011</c:v>
                </c:pt>
                <c:pt idx="10">
                  <c:v>0.3521</c:v>
                </c:pt>
                <c:pt idx="11">
                  <c:v>0.3867</c:v>
                </c:pt>
                <c:pt idx="12">
                  <c:v>0.3989</c:v>
                </c:pt>
                <c:pt idx="13">
                  <c:v>0.3867</c:v>
                </c:pt>
                <c:pt idx="14">
                  <c:v>0.3521</c:v>
                </c:pt>
                <c:pt idx="15">
                  <c:v>0.3011</c:v>
                </c:pt>
                <c:pt idx="16">
                  <c:v>0.242</c:v>
                </c:pt>
                <c:pt idx="17">
                  <c:v>0.1826</c:v>
                </c:pt>
                <c:pt idx="18">
                  <c:v>0.1295</c:v>
                </c:pt>
                <c:pt idx="19">
                  <c:v>0.0863</c:v>
                </c:pt>
                <c:pt idx="20">
                  <c:v>0.054</c:v>
                </c:pt>
                <c:pt idx="21">
                  <c:v>0.0317</c:v>
                </c:pt>
                <c:pt idx="22">
                  <c:v>0.0175</c:v>
                </c:pt>
                <c:pt idx="23">
                  <c:v>0.0091</c:v>
                </c:pt>
                <c:pt idx="24">
                  <c:v>0.0044</c:v>
                </c:pt>
                <c:pt idx="25">
                  <c:v>0.002</c:v>
                </c:pt>
                <c:pt idx="26">
                  <c:v>0.0009</c:v>
                </c:pt>
                <c:pt idx="27">
                  <c:v>0.0004</c:v>
                </c:pt>
                <c:pt idx="28">
                  <c:v>0.0001</c:v>
                </c:pt>
              </c:numCache>
            </c:numRef>
          </c:val>
          <c:smooth/>
        </c:ser>
        <c:ser>
          <c:idx val="1"/>
          <c:order val="1"/>
          <c:tx>
            <c:strRef>
              <c:f>Sheet1!$C$1</c:f>
              <c:strCache>
                <c:ptCount val="1"/>
                <c:pt idx="0">
                  <c:v>group 2</c:v>
                </c:pt>
              </c:strCache>
            </c:strRef>
          </c:tx>
          <c:spPr>
            <a:ln w="44450">
              <a:solidFill>
                <a:srgbClr val="E08A00"/>
              </a:solidFill>
            </a:ln>
          </c:spPr>
          <c:marker>
            <c:symbol val="none"/>
          </c:marker>
          <c:cat>
            <c:strRef>
              <c:f>Sheet1!$A$2:$A$30</c:f>
              <c:strCache>
                <c:ptCount val="29"/>
                <c:pt idx="0">
                  <c:v>-3</c:v>
                </c:pt>
                <c:pt idx="1">
                  <c:v/>
                </c:pt>
                <c:pt idx="2">
                  <c:v/>
                </c:pt>
                <c:pt idx="3">
                  <c:v/>
                </c:pt>
                <c:pt idx="4">
                  <c:v>-2</c:v>
                </c:pt>
                <c:pt idx="5">
                  <c:v/>
                </c:pt>
                <c:pt idx="6">
                  <c:v/>
                </c:pt>
                <c:pt idx="7">
                  <c:v/>
                </c:pt>
                <c:pt idx="8">
                  <c:v>-1</c:v>
                </c:pt>
                <c:pt idx="9">
                  <c:v/>
                </c:pt>
                <c:pt idx="10">
                  <c:v/>
                </c:pt>
                <c:pt idx="11">
                  <c:v/>
                </c:pt>
                <c:pt idx="12">
                  <c:v>0</c:v>
                </c:pt>
                <c:pt idx="13">
                  <c:v/>
                </c:pt>
                <c:pt idx="14">
                  <c:v/>
                </c:pt>
                <c:pt idx="15">
                  <c:v/>
                </c:pt>
                <c:pt idx="16">
                  <c:v>1</c:v>
                </c:pt>
                <c:pt idx="17">
                  <c:v/>
                </c:pt>
                <c:pt idx="18">
                  <c:v/>
                </c:pt>
                <c:pt idx="19">
                  <c:v/>
                </c:pt>
                <c:pt idx="20">
                  <c:v>2</c:v>
                </c:pt>
                <c:pt idx="21">
                  <c:v/>
                </c:pt>
                <c:pt idx="22">
                  <c:v/>
                </c:pt>
                <c:pt idx="23">
                  <c:v/>
                </c:pt>
                <c:pt idx="24">
                  <c:v>3</c:v>
                </c:pt>
                <c:pt idx="25">
                  <c:v/>
                </c:pt>
                <c:pt idx="26">
                  <c:v/>
                </c:pt>
                <c:pt idx="27">
                  <c:v/>
                </c:pt>
                <c:pt idx="28">
                  <c:v>4</c:v>
                </c:pt>
              </c:strCache>
            </c:strRef>
          </c:cat>
          <c:val>
            <c:numRef>
              <c:f>Sheet1!$C$2:$C$30</c:f>
              <c:numCache>
                <c:formatCode>General</c:formatCode>
                <c:ptCount val="29"/>
                <c:pt idx="0">
                  <c:v>0.0003</c:v>
                </c:pt>
                <c:pt idx="1">
                  <c:v>0.0007</c:v>
                </c:pt>
                <c:pt idx="2">
                  <c:v>0.0017</c:v>
                </c:pt>
                <c:pt idx="3">
                  <c:v>0.0038</c:v>
                </c:pt>
                <c:pt idx="4">
                  <c:v>0.0079</c:v>
                </c:pt>
                <c:pt idx="5">
                  <c:v>0.0154</c:v>
                </c:pt>
                <c:pt idx="6">
                  <c:v>0.0283</c:v>
                </c:pt>
                <c:pt idx="7">
                  <c:v>0.0488</c:v>
                </c:pt>
                <c:pt idx="8">
                  <c:v>0.079</c:v>
                </c:pt>
                <c:pt idx="9">
                  <c:v>0.12</c:v>
                </c:pt>
                <c:pt idx="10">
                  <c:v>0.1714</c:v>
                </c:pt>
                <c:pt idx="11">
                  <c:v>0.2299</c:v>
                </c:pt>
                <c:pt idx="12">
                  <c:v>0.2897</c:v>
                </c:pt>
                <c:pt idx="13">
                  <c:v>0.3429</c:v>
                </c:pt>
                <c:pt idx="14">
                  <c:v>0.3814</c:v>
                </c:pt>
                <c:pt idx="15">
                  <c:v>0.3984</c:v>
                </c:pt>
                <c:pt idx="16">
                  <c:v>0.391</c:v>
                </c:pt>
                <c:pt idx="17">
                  <c:v>0.3605</c:v>
                </c:pt>
                <c:pt idx="18">
                  <c:v>0.3123</c:v>
                </c:pt>
                <c:pt idx="19">
                  <c:v>0.2541</c:v>
                </c:pt>
                <c:pt idx="20">
                  <c:v>0.1942</c:v>
                </c:pt>
                <c:pt idx="21">
                  <c:v>0.1394</c:v>
                </c:pt>
                <c:pt idx="22">
                  <c:v>0.094</c:v>
                </c:pt>
                <c:pt idx="23">
                  <c:v>0.0596</c:v>
                </c:pt>
                <c:pt idx="24">
                  <c:v>0.0355</c:v>
                </c:pt>
                <c:pt idx="25">
                  <c:v>0.0198</c:v>
                </c:pt>
                <c:pt idx="26">
                  <c:v>0.0104</c:v>
                </c:pt>
                <c:pt idx="27">
                  <c:v>0.0051</c:v>
                </c:pt>
                <c:pt idx="28">
                  <c:v>0.0024</c:v>
                </c:pt>
              </c:numCache>
            </c:numRef>
          </c:val>
          <c:smooth/>
        </c:ser>
        <c:marker val="1"/>
        <c:smooth val="0"/>
        <c:axId val="2118791784"/>
        <c:axId val="2140495176"/>
      </c:lineChart>
      <c:catAx>
        <c:axId val="2118791784"/>
        <c:scaling>
          <c:orientation val="minMax"/>
        </c:scaling>
        <c:delete val="0"/>
        <c:axPos val="b"/>
        <c:title>
          <c:tx>
            <c:rich>
              <a:bodyPr/>
              <a:lstStyle/>
              <a:p>
                <a:r>
                  <a:rPr sz="1200" b="0">
                    <a:solidFill>
                      <a:srgbClr val="5C6F6E"/>
                    </a:solidFill>
                    <a:latin typeface="Calibri"/>
                  </a:rPr>
                  <a:t>SDs</a:t>
                </a:r>
              </a:p>
            </c:rich>
          </c:tx>
          <c:layout/>
          <c:overlay val="0"/>
        </c:title>
        <c:majorTickMark val="out"/>
        <c:minorTickMark val="none"/>
        <c:tickLblPos val="nextTo"/>
        <c:spPr>
          <a:ln>
            <a:solidFill>
              <a:srgbClr val="5C6F6E"/>
            </a:solidFill>
          </a:ln>
        </c:spPr>
        <c:crossAx val="2140495176"/>
        <c:crosses val="autoZero"/>
        <c:auto val="1"/>
        <c:lblAlgn val="ctr"/>
        <c:lblOffset val="100"/>
        <c:noMultiLvlLbl val="0"/>
      </c:catAx>
      <c:valAx>
        <c:axId val="2140495176"/>
        <c:scaling/>
        <c:delete/>
        <c:axPos val="l"/>
        <c:majorGridlines>
          <c:spPr>
            <a:ln>
              <a:solidFill>
                <a:srgbClr val="CFE5E1"/>
              </a:solidFill>
            </a:ln>
          </c:spPr>
        </c:majorGridlines>
        <c:title>
          <c:tx>
            <c:rich>
              <a:bodyPr/>
              <a:lstStyle/>
              <a:p>
                <a:r>
                  <a:rPr sz="1200" b="0">
                    <a:solidFill>
                      <a:srgbClr val="5C6F6E"/>
                    </a:solidFill>
                    <a:latin typeface="Calibri"/>
                  </a:rPr>
                  <a:t> </a:t>
                </a:r>
              </a:p>
            </c:rich>
          </c:tx>
          <c:layout/>
          <c:overlay val="0"/>
        </c:title>
        <c:majorTickMark val="out"/>
        <c:minorTickMark val="none"/>
        <c:tickLblPos val="nextTo"/>
        <c:spPr>
          <a:ln>
            <a:noFill/>
          </a:ln>
        </c:spPr>
        <c:crossAx val="2118791784"/>
        <c:crosses val="autoZero"/>
      </c:valAx>
    </c:plotArea>
    <c:plotVisOnly val="1"/>
    <c:dispBlanksAs val="gap"/>
    <c:showDLblsOverMax val="0"/>
  </c:chart>
  <c:txPr>
    <a:bodyPr/>
    <a:lstStyle/>
    <a:p>
      <a:pPr>
        <a:defRPr sz="1200">
          <a:solidFill>
            <a:srgbClr val="5C6F6E"/>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IT: a big circle = population (all 518 students). Scatter many small dots in it. Circle ~25 dots in a different colour: that is the sample (40 students).</a:t>
            </a:r>
          </a:p>
          <a:p>
            <a:r>
              <a:t>SAY: 'The big circle is everyone. The few coloured dots are who we actually measured. The average of the big circle is mu: a fixed number we usually can't see. The average of the coloured dots is x-bar: our estimate. Inference is about how far x-bar can be from mu.'</a:t>
            </a:r>
          </a:p>
          <a:p>
            <a:r>
              <a:t>ASK: 'If I pick a different 40, do I get the same x-bar?' (No: the coloured dots change, mu doesn't.)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IT: two circles of the same population. LEFT: sample dots spread everywhere (random). RIGHT: sample dots all packed in one corner, circled as 'the keenest students' (biased).</a:t>
            </a:r>
          </a:p>
          <a:p>
            <a:r>
              <a:t>SAY: 'Random: the sample looks like a small copy of the population, so its average lands near the truth. Biased: the sample only comes from one part, so its average belongs to that part, not to everyone. A bigger biased sample is just a more precise wrong answer.'</a:t>
            </a:r>
          </a:p>
          <a:p>
            <a:r>
              <a:t>NUMBERS from our data: random samples average 64.9; the 40 students who study most average about 60.0 (they are mostly Engineering, who score lower).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IT: a wide bell for individual students and a much narrower bell for sample means, both centred on the same mean.</a:t>
            </a:r>
          </a:p>
          <a:p>
            <a:r>
              <a:t>SAY: 'Individual students are spread out: some score 40, some 90. But if I take many samples of 30 and plot their AVERAGES, the averages bunch tightly around the true mean. That narrow curve is the sampling distribution. Its width is the standard error, sigma over root n.'</a:t>
            </a:r>
          </a:p>
          <a:p>
            <a:r>
              <a:t>NUMBERS: SD of students 12.2; SE for n=30: 12.2/sqrt(30) = 2.2. Four times the data = half the error.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IT: a number line. Mark mu (true mean) as a dashed vertical line. Draw 6 horizontal intervals (nets) with a dot in the middle, most crossing the line, one not.</a:t>
            </a:r>
          </a:p>
          <a:p>
            <a:r>
              <a:t>SAY: 'Each net is built from one sample: sample mean plus or minus a margin. The true mean sits still; the nets move. A 95% net-making method catches the truth about 95 times in 100. This particular net either has it or it does not.'</a:t>
            </a:r>
          </a:p>
          <a:p>
            <a:r>
              <a:t>RECIPE: x-bar plus or minus t* x s/sqrt(n). Sample n=40: 65.1 plus or minus 3.3 gives 61.9 to 68.4.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IT: a bell curve centred at 0 = 'the world where nothing is going on (H0)'. Mark where our result landed (t = 2.2). Shade the area beyond it, on BOTH tails.</a:t>
            </a:r>
          </a:p>
          <a:p>
            <a:r>
              <a:t>SAY: 'This bell shows what results luck alone would produce if H0 were true. Our result landed far out. The red area is the share of luck-only results that are at least this extreme. That share is the p-value, about 2.8% here. Small area = result would be rare if nothing were going on.'</a:t>
            </a:r>
          </a:p>
          <a:p>
            <a:r>
              <a:t>REMIND: it is NOT the probability that H0 is true. It is how surprising the data are if H0 is true.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IT: rectangle = all the studies anyone could run. Circle T = 'H0 is actually true' (nothing there). Circle R = 'we reject H0 / say significant'. They overlap.</a:t>
            </a:r>
          </a:p>
          <a:p>
            <a:r>
              <a:t>READ THE REGIONS: overlap T and R = we claimed an effect that is not there = TYPE I (false alarm, probability alpha). R outside T = real effect found (power). T outside R = nothing there, nothing claimed (correct). Outside both = a real effect we missed = TYPE II.</a:t>
            </a:r>
          </a:p>
          <a:p>
            <a:r>
              <a:t>ASK: 'Which error is worse for a new medicine? For a spam filter?'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IT: two bell curves for two groups. d = 0.2: almost on top of each other. d = 0.5: visibly shifted. d = 0.8: clearly apart.</a:t>
            </a:r>
          </a:p>
          <a:p>
            <a:r>
              <a:t>SAY: 'Cohen's d is how many standard deviations apart the two group averages are. The more the curves overlap, the smaller the effect. A p-value only says whether there is a difference; d tells you how big it is.'</a:t>
            </a:r>
          </a:p>
          <a:p>
            <a:r>
              <a:t>OUR DATA: heavy job vs no job d = 0.73 (clearly shifted). Hostel vs home d = 0.02 (the curves sit on top of each other).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One-page summary. Ask which picture each line came from.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chart" Target="../charts/char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spcAft>
                <a:spcPts val="600"/>
              </a:spcAft>
            </a:pPr>
            <a:r>
              <a:rPr sz="1200" b="1" i="0">
                <a:solidFill>
                  <a:srgbClr val="1F7A78"/>
                </a:solidFill>
                <a:latin typeface="Calibri"/>
              </a:rPr>
              <a:t>WHITEBOARD 1 · POPULATION VS SAMPLE</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400" b="1" i="0">
                <a:solidFill>
                  <a:srgbClr val="0F3D3E"/>
                </a:solidFill>
                <a:latin typeface="Cambria"/>
              </a:rPr>
              <a:t>The sample is a circle inside the circle</a:t>
            </a:r>
          </a:p>
        </p:txBody>
      </p:sp>
      <p:sp>
        <p:nvSpPr>
          <p:cNvPr id="4" name="Rectangle 3"/>
          <p:cNvSpPr/>
          <p:nvPr/>
        </p:nvSpPr>
        <p:spPr>
          <a:xfrm>
            <a:off x="548640" y="1645920"/>
            <a:ext cx="6035040" cy="4480560"/>
          </a:xfrm>
          <a:prstGeom prst="rect">
            <a:avLst/>
          </a:prstGeom>
          <a:noFill/>
          <a:ln w="38100">
            <a:solidFill>
              <a:srgbClr val="0F3D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508760" y="1828800"/>
            <a:ext cx="4114800" cy="4114800"/>
          </a:xfrm>
          <a:prstGeom prst="ellipse">
            <a:avLst/>
          </a:prstGeom>
          <a:solidFill>
            <a:srgbClr val="1F7A78">
              <a:alpha val="15000"/>
            </a:srgbClr>
          </a:solidFill>
          <a:ln w="50800">
            <a:solidFill>
              <a:srgbClr val="1F7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555367" y="5680332"/>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732448" y="3511267"/>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855154" y="3453136"/>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49879" y="3983716"/>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806104" y="5013590"/>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96910" y="3635417"/>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000878" y="3428093"/>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286501" y="2848730"/>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36924" y="2923189"/>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76364" y="2908715"/>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72843" y="2246127"/>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014859" y="4965259"/>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971709" y="5543860"/>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612240" y="3944403"/>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339399" y="2025920"/>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088261" y="5277777"/>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889157" y="2839612"/>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905268" y="3865837"/>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551529" y="4867932"/>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260912" y="5008110"/>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237786" y="5070932"/>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056098" y="3711178"/>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106336" y="4731647"/>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887524" y="2929234"/>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334903" y="4400084"/>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068703" y="3753571"/>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130900" y="3508759"/>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220476" y="5551229"/>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166554" y="2779762"/>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611617" y="2640363"/>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846041" y="2446278"/>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992978" y="3072678"/>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294037" y="2504151"/>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529437" y="3502471"/>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885168" y="4374690"/>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014693" y="4753803"/>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139851" y="3543775"/>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018174" y="4370473"/>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783440" y="3175780"/>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3686414" y="2577086"/>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2510132" y="4909485"/>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321016" y="2298828"/>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2997470" y="3501371"/>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185601" y="3645420"/>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3862729" y="5224498"/>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438617" y="3271295"/>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3294385" y="3282374"/>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2617130" y="3061962"/>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2737453" y="4142367"/>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704681" y="4893602"/>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3905809" y="5545484"/>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4287014" y="3828230"/>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766508" y="3779234"/>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2325080" y="2315382"/>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3531679" y="4999832"/>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2663216" y="4932706"/>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3612184" y="2382666"/>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2664153" y="5254592"/>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961453" y="4787942"/>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2222185" y="3384389"/>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2403545" y="5230848"/>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4022149" y="4623483"/>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3595295" y="3040706"/>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3076959" y="5641119"/>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4569600" y="3249815"/>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4089024" y="3337026"/>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3019091" y="3842412"/>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4528091" y="3591351"/>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4942972" y="4261629"/>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4765999" y="4362995"/>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2941749" y="4899857"/>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2979431" y="3732428"/>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974457" y="2684935"/>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3762053" y="3364956"/>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4706830" y="4259380"/>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4993264" y="4782882"/>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3925707" y="2952844"/>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4670226" y="2803279"/>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3671362" y="4953784"/>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3626970" y="4285892"/>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4225535" y="4117123"/>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2084458" y="3869159"/>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2041867" y="4721205"/>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2586296" y="2321298"/>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2238537" y="3978896"/>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3305258" y="5708438"/>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4212772" y="5246465"/>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1935303" y="3251777"/>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1834415" y="4236287"/>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2520670" y="2857069"/>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2635736" y="2171444"/>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4498162" y="4446750"/>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3216483" y="4588839"/>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2092659" y="3356268"/>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2339987" y="3475566"/>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3355464" y="5408993"/>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4549272" y="3159566"/>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1993213" y="3360682"/>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2845043" y="5367514"/>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3172408" y="2106962"/>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5262942" y="4330059"/>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3366546" y="2148291"/>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4048857" y="4305660"/>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4207501" y="4620353"/>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4106338" y="5665695"/>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2886970" y="4876949"/>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2589672" y="4033813"/>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3742950" y="3822593"/>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3195906" y="4138275"/>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5426946" y="3654269"/>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3035938" y="4075694"/>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4001819" y="2798139"/>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3092326" y="5666104"/>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4119215" y="4176383"/>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2319186" y="2336477"/>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2954696" y="2009760"/>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2567665" y="4140962"/>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4763583" y="2868803"/>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2614516" y="5161943"/>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4518752" y="2291181"/>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4767288" y="5189796"/>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2181041" y="4349129"/>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2258884" y="2771287"/>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3482058" y="3918194"/>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3420451" y="3996051"/>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2326454" y="4973066"/>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2592614" y="5524873"/>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3569085" y="3018963"/>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2166878" y="3765881"/>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2997712" y="4333270"/>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3500385" y="1921445"/>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4854712" y="5113666"/>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5251329" y="4503241"/>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2110258" y="3587815"/>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3257501" y="4371287"/>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3017628" y="4549644"/>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2288362" y="3223331"/>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3684950" y="3529062"/>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4293866" y="5197136"/>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2920203" y="5657421"/>
            <a:ext cx="118872" cy="118872"/>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2493801" y="2965591"/>
            <a:ext cx="182880" cy="18288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3886613" y="4735240"/>
            <a:ext cx="182880" cy="18288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2548763" y="4442565"/>
            <a:ext cx="182880" cy="18288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3730930" y="2354836"/>
            <a:ext cx="182880" cy="18288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3197509" y="4491384"/>
            <a:ext cx="182880" cy="18288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3156994" y="4342787"/>
            <a:ext cx="182880" cy="18288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3028777" y="2507866"/>
            <a:ext cx="182880" cy="18288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2840878" y="3840294"/>
            <a:ext cx="182880" cy="18288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3355019" y="4592038"/>
            <a:ext cx="182880" cy="18288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4214608" y="5231797"/>
            <a:ext cx="182880" cy="18288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4069046" y="3410200"/>
            <a:ext cx="182880" cy="18288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3542935" y="4179261"/>
            <a:ext cx="182880" cy="18288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4964763" y="3540408"/>
            <a:ext cx="182880" cy="18288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5088709" y="4262682"/>
            <a:ext cx="182880" cy="18288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4829954" y="3786761"/>
            <a:ext cx="182880" cy="18288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4266893" y="3132381"/>
            <a:ext cx="182880" cy="18288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3568654" y="2627076"/>
            <a:ext cx="182880" cy="18288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4305701" y="3615480"/>
            <a:ext cx="182880" cy="18288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3853536" y="4888816"/>
            <a:ext cx="182880" cy="18288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3092843" y="2544559"/>
            <a:ext cx="182880" cy="18288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3901858" y="2200821"/>
            <a:ext cx="182880" cy="18288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1826376" y="3591425"/>
            <a:ext cx="182880" cy="18288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731520" y="1737360"/>
            <a:ext cx="2743200" cy="731520"/>
          </a:xfrm>
          <a:prstGeom prst="rect">
            <a:avLst/>
          </a:prstGeom>
          <a:noFill/>
        </p:spPr>
        <p:txBody>
          <a:bodyPr wrap="square" lIns="0" rIns="0" tIns="0" bIns="0" anchor="t">
            <a:spAutoFit/>
          </a:bodyPr>
          <a:lstStyle/>
          <a:p>
            <a:pPr algn="l">
              <a:spcAft>
                <a:spcPts val="0"/>
              </a:spcAft>
            </a:pPr>
            <a:r>
              <a:rPr sz="1600" b="1" i="0">
                <a:solidFill>
                  <a:srgbClr val="1F7A78"/>
                </a:solidFill>
                <a:latin typeface="Calibri"/>
              </a:rPr>
              <a:t>Population</a:t>
            </a:r>
          </a:p>
          <a:p>
            <a:pPr algn="l">
              <a:spcAft>
                <a:spcPts val="0"/>
              </a:spcAft>
            </a:pPr>
            <a:r>
              <a:rPr sz="1600" b="1" i="0">
                <a:solidFill>
                  <a:srgbClr val="1F7A78"/>
                </a:solidFill>
                <a:latin typeface="Calibri"/>
              </a:rPr>
              <a:t>all 518 students</a:t>
            </a:r>
          </a:p>
        </p:txBody>
      </p:sp>
      <p:sp>
        <p:nvSpPr>
          <p:cNvPr id="169" name="TextBox 168"/>
          <p:cNvSpPr txBox="1"/>
          <p:nvPr/>
        </p:nvSpPr>
        <p:spPr>
          <a:xfrm>
            <a:off x="4572000" y="5532120"/>
            <a:ext cx="1920240" cy="548640"/>
          </a:xfrm>
          <a:prstGeom prst="rect">
            <a:avLst/>
          </a:prstGeom>
          <a:noFill/>
        </p:spPr>
        <p:txBody>
          <a:bodyPr wrap="square" lIns="0" rIns="0" tIns="0" bIns="0" anchor="t">
            <a:spAutoFit/>
          </a:bodyPr>
          <a:lstStyle/>
          <a:p>
            <a:pPr algn="l">
              <a:spcAft>
                <a:spcPts val="0"/>
              </a:spcAft>
            </a:pPr>
            <a:r>
              <a:rPr sz="1600" b="1" i="0">
                <a:solidFill>
                  <a:srgbClr val="E08A00"/>
                </a:solidFill>
                <a:latin typeface="Calibri"/>
              </a:rPr>
              <a:t>● Sample</a:t>
            </a:r>
          </a:p>
          <a:p>
            <a:pPr algn="l">
              <a:spcAft>
                <a:spcPts val="0"/>
              </a:spcAft>
            </a:pPr>
            <a:r>
              <a:rPr sz="1600" b="1" i="0">
                <a:solidFill>
                  <a:srgbClr val="E08A00"/>
                </a:solidFill>
                <a:latin typeface="Calibri"/>
              </a:rPr>
              <a:t>40 students</a:t>
            </a:r>
          </a:p>
        </p:txBody>
      </p:sp>
      <p:sp>
        <p:nvSpPr>
          <p:cNvPr id="170" name="Rounded Rectangle 169"/>
          <p:cNvSpPr/>
          <p:nvPr/>
        </p:nvSpPr>
        <p:spPr>
          <a:xfrm>
            <a:off x="6949440" y="1645920"/>
            <a:ext cx="4690872" cy="4480560"/>
          </a:xfrm>
          <a:prstGeom prst="roundRect">
            <a:avLst>
              <a:gd name="adj" fmla="val 6000"/>
            </a:avLst>
          </a:prstGeom>
          <a:solidFill>
            <a:srgbClr val="FFFFFF"/>
          </a:solidFill>
          <a:ln w="12700">
            <a:solidFill>
              <a:srgbClr val="CFE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7223760" y="1828800"/>
            <a:ext cx="4206240" cy="365760"/>
          </a:xfrm>
          <a:prstGeom prst="rect">
            <a:avLst/>
          </a:prstGeom>
          <a:noFill/>
        </p:spPr>
        <p:txBody>
          <a:bodyPr wrap="square" lIns="0" rIns="0" tIns="0" bIns="0" anchor="t">
            <a:spAutoFit/>
          </a:bodyPr>
          <a:lstStyle/>
          <a:p>
            <a:pPr algn="l">
              <a:spcAft>
                <a:spcPts val="600"/>
              </a:spcAft>
            </a:pPr>
            <a:r>
              <a:rPr sz="1700" b="1" i="0">
                <a:solidFill>
                  <a:srgbClr val="1F7A78"/>
                </a:solidFill>
                <a:latin typeface="Cambria"/>
              </a:rPr>
              <a:t>In plain words</a:t>
            </a:r>
          </a:p>
        </p:txBody>
      </p:sp>
      <p:sp>
        <p:nvSpPr>
          <p:cNvPr id="172" name="TextBox 171"/>
          <p:cNvSpPr txBox="1"/>
          <p:nvPr/>
        </p:nvSpPr>
        <p:spPr>
          <a:xfrm>
            <a:off x="7223760" y="2377440"/>
            <a:ext cx="4206240" cy="3566160"/>
          </a:xfrm>
          <a:prstGeom prst="rect">
            <a:avLst/>
          </a:prstGeom>
          <a:noFill/>
        </p:spPr>
        <p:txBody>
          <a:bodyPr wrap="square" lIns="0" rIns="0" tIns="0" bIns="0" anchor="t">
            <a:spAutoFit/>
          </a:bodyPr>
          <a:lstStyle/>
          <a:p>
            <a:pPr algn="l">
              <a:spcAft>
                <a:spcPts val="1000"/>
              </a:spcAft>
            </a:pPr>
            <a:r>
              <a:rPr sz="2400" b="1" i="0">
                <a:solidFill>
                  <a:srgbClr val="1F7A78"/>
                </a:solidFill>
                <a:latin typeface="Cambria"/>
              </a:rPr>
              <a:t>Population  →  μ</a:t>
            </a:r>
          </a:p>
          <a:p>
            <a:pPr algn="l">
              <a:spcAft>
                <a:spcPts val="1000"/>
              </a:spcAft>
            </a:pPr>
            <a:r>
              <a:rPr sz="1700" b="0" i="0">
                <a:solidFill>
                  <a:srgbClr val="17302F"/>
                </a:solidFill>
                <a:latin typeface="Calibri"/>
              </a:rPr>
              <a:t>The average of EVERYONE. A fixed number, usually unknown.</a:t>
            </a:r>
          </a:p>
          <a:p>
            <a:pPr algn="l">
              <a:spcAft>
                <a:spcPts val="1000"/>
              </a:spcAft>
            </a:pPr>
            <a:r>
              <a:rPr sz="2400" b="1" i="0">
                <a:solidFill>
                  <a:srgbClr val="B36B00"/>
                </a:solidFill>
                <a:latin typeface="Cambria"/>
              </a:rPr>
              <a:t>Sample  →  x̄</a:t>
            </a:r>
          </a:p>
          <a:p>
            <a:pPr algn="l">
              <a:spcAft>
                <a:spcPts val="1000"/>
              </a:spcAft>
            </a:pPr>
            <a:r>
              <a:rPr sz="1700" b="0" i="0">
                <a:solidFill>
                  <a:srgbClr val="17302F"/>
                </a:solidFill>
                <a:latin typeface="Calibri"/>
              </a:rPr>
              <a:t>The average of the few we measured. Changes with every new sample.</a:t>
            </a:r>
          </a:p>
          <a:p>
            <a:pPr algn="l">
              <a:spcAft>
                <a:spcPts val="1000"/>
              </a:spcAft>
            </a:pPr>
            <a:r>
              <a:rPr sz="1900" b="1" i="0">
                <a:solidFill>
                  <a:srgbClr val="0F3D3E"/>
                </a:solidFill>
                <a:latin typeface="Cambria"/>
              </a:rPr>
              <a:t>Inference = how far can x̄ be from μ?</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spcAft>
                <a:spcPts val="600"/>
              </a:spcAft>
            </a:pPr>
            <a:r>
              <a:rPr sz="1200" b="1" i="0">
                <a:solidFill>
                  <a:srgbClr val="1F7A78"/>
                </a:solidFill>
                <a:latin typeface="Calibri"/>
              </a:rPr>
              <a:t>WHITEBOARD 2 · SAMPLING</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400" b="1" i="0">
                <a:solidFill>
                  <a:srgbClr val="0F3D3E"/>
                </a:solidFill>
                <a:latin typeface="Cambria"/>
              </a:rPr>
              <a:t>Where the dots come from matters</a:t>
            </a:r>
          </a:p>
        </p:txBody>
      </p:sp>
      <p:sp>
        <p:nvSpPr>
          <p:cNvPr id="4" name="Rectangle 3"/>
          <p:cNvSpPr/>
          <p:nvPr/>
        </p:nvSpPr>
        <p:spPr>
          <a:xfrm>
            <a:off x="548640" y="1645920"/>
            <a:ext cx="6035040" cy="4480560"/>
          </a:xfrm>
          <a:prstGeom prst="rect">
            <a:avLst/>
          </a:prstGeom>
          <a:noFill/>
          <a:ln w="38100">
            <a:solidFill>
              <a:srgbClr val="0F3D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2468879"/>
            <a:ext cx="2468880" cy="2468880"/>
          </a:xfrm>
          <a:prstGeom prst="ellipse">
            <a:avLst/>
          </a:prstGeom>
          <a:solidFill>
            <a:srgbClr val="1F7A78">
              <a:alpha val="12000"/>
            </a:srgbClr>
          </a:solidFill>
          <a:ln w="38100">
            <a:solidFill>
              <a:srgbClr val="1F7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42358" y="3855876"/>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96500" y="3487926"/>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046828" y="2812964"/>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677690" y="2699230"/>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830003" y="3694357"/>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927276" y="3867323"/>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565766" y="4019773"/>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582981" y="3141280"/>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600824" y="3193781"/>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065635" y="3863285"/>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027715" y="4327716"/>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788071" y="2642892"/>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375638" y="3974205"/>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600236" y="4249896"/>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647046" y="2958570"/>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912999" y="4042252"/>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49856" y="4443256"/>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922203" y="4291740"/>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962084" y="3391147"/>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048390" y="2779870"/>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588438" y="3139448"/>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014846" y="3098454"/>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251148" y="3405291"/>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377307" y="2904066"/>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309216" y="4262496"/>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721257" y="3818388"/>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807197" y="4368799"/>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392119" y="4538471"/>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77050" y="3151247"/>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080888" y="4515803"/>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391676" y="3764084"/>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542660" y="3327831"/>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320007" y="4071585"/>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516103" y="3709935"/>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2233688" y="2907795"/>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2086666" y="2728208"/>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2051014" y="3742512"/>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775279" y="3390499"/>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370802" y="4248663"/>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823754" y="3357930"/>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109442" y="3388784"/>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725380" y="3277806"/>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2051060" y="2648915"/>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2213961" y="4693481"/>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2253895" y="4255213"/>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2700970" y="4426191"/>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2888932" y="3045079"/>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2054016" y="3264714"/>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510296" y="3829680"/>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648930" y="3945976"/>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2302024" y="2676336"/>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956384" y="3381092"/>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281245" y="3684129"/>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863001" y="4061249"/>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685891" y="2905497"/>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227192" y="3109613"/>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702846" y="2974372"/>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2188208" y="4731765"/>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175233" y="3443579"/>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2513708" y="4602843"/>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2190631" y="4594166"/>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995031" y="3871013"/>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293474" y="4314268"/>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3179006" y="3747556"/>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1890426" y="4510479"/>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1448657" y="4070608"/>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1864764" y="3073224"/>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2601925" y="3179636"/>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782237" y="4308047"/>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2086697" y="4353988"/>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051560" y="1828799"/>
            <a:ext cx="2194560" cy="548640"/>
          </a:xfrm>
          <a:prstGeom prst="rect">
            <a:avLst/>
          </a:prstGeom>
          <a:noFill/>
        </p:spPr>
        <p:txBody>
          <a:bodyPr wrap="square" lIns="0" rIns="0" tIns="0" bIns="0" anchor="ctr">
            <a:spAutoFit/>
          </a:bodyPr>
          <a:lstStyle/>
          <a:p>
            <a:pPr algn="ctr">
              <a:spcAft>
                <a:spcPts val="0"/>
              </a:spcAft>
            </a:pPr>
            <a:r>
              <a:rPr sz="2100" b="1" i="0">
                <a:solidFill>
                  <a:srgbClr val="1F7A78"/>
                </a:solidFill>
                <a:latin typeface="Calibri"/>
              </a:rPr>
              <a:t>Random</a:t>
            </a:r>
          </a:p>
        </p:txBody>
      </p:sp>
      <p:sp>
        <p:nvSpPr>
          <p:cNvPr id="77" name="Oval 76"/>
          <p:cNvSpPr/>
          <p:nvPr/>
        </p:nvSpPr>
        <p:spPr>
          <a:xfrm>
            <a:off x="3749039" y="2468879"/>
            <a:ext cx="2468880" cy="2468880"/>
          </a:xfrm>
          <a:prstGeom prst="ellipse">
            <a:avLst/>
          </a:prstGeom>
          <a:solidFill>
            <a:srgbClr val="1F7A78">
              <a:alpha val="12000"/>
            </a:srgbClr>
          </a:solidFill>
          <a:ln w="38100">
            <a:solidFill>
              <a:srgbClr val="1F7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6027040" y="3680994"/>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5198236" y="3348088"/>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5678545" y="2849476"/>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5850710" y="3761514"/>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5926208" y="3596622"/>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4761591" y="4366402"/>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4137449" y="3921769"/>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5342176" y="2747926"/>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4927923" y="3637276"/>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4933746" y="4785212"/>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4562701" y="2971052"/>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4987718" y="4001562"/>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6017290" y="3855515"/>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4912758" y="4087059"/>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4874030" y="2954285"/>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5408575" y="4321182"/>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4169781" y="3554065"/>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4592025" y="2840099"/>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5881788" y="3362420"/>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5957914" y="3744798"/>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5723890" y="3099846"/>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4627352" y="3277866"/>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4932429" y="4778785"/>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5928629" y="3393821"/>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4457577" y="4411092"/>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3964082" y="3386855"/>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5643552" y="3953683"/>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4285118" y="3667577"/>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4999169" y="4158279"/>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3916427" y="4010558"/>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4613062" y="3651320"/>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4527014" y="3984071"/>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5101716" y="3942170"/>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3876271" y="3364904"/>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4886300" y="2695946"/>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5346945" y="3621813"/>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4934002" y="3893659"/>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6006850" y="3872424"/>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5411886" y="3215091"/>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5563461" y="3679293"/>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4636153" y="4244198"/>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4150505" y="3121756"/>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4419514" y="3443958"/>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5727188" y="3976821"/>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4937630" y="4636764"/>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4596873" y="3777853"/>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5793703" y="3261479"/>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5545655" y="3887638"/>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4995729" y="3973466"/>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4895796" y="2697503"/>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5755729" y="3292057"/>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5263807" y="4321509"/>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4271712" y="3740388"/>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5441029" y="4479425"/>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4666020" y="4272017"/>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4648389" y="4714267"/>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5608434" y="3355299"/>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4506563" y="4015822"/>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5635031" y="3969822"/>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5887666" y="3444054"/>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4488815" y="3334428"/>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4394322" y="3601357"/>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5568679" y="4577785"/>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5260934" y="4358519"/>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3907695" y="3963098"/>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5771429" y="3155032"/>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4669638" y="2745879"/>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5540798" y="2723507"/>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5235797" y="3054484"/>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5149753" y="4615373"/>
            <a:ext cx="100584" cy="100584"/>
          </a:xfrm>
          <a:prstGeom prst="ellipse">
            <a:avLst/>
          </a:prstGeom>
          <a:solidFill>
            <a:srgbClr val="9C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3886200" y="1828799"/>
            <a:ext cx="2194560" cy="548640"/>
          </a:xfrm>
          <a:prstGeom prst="rect">
            <a:avLst/>
          </a:prstGeom>
          <a:noFill/>
        </p:spPr>
        <p:txBody>
          <a:bodyPr wrap="square" lIns="0" rIns="0" tIns="0" bIns="0" anchor="ctr">
            <a:spAutoFit/>
          </a:bodyPr>
          <a:lstStyle/>
          <a:p>
            <a:pPr algn="ctr">
              <a:spcAft>
                <a:spcPts val="0"/>
              </a:spcAft>
            </a:pPr>
            <a:r>
              <a:rPr sz="2100" b="1" i="0">
                <a:solidFill>
                  <a:srgbClr val="C8453F"/>
                </a:solidFill>
                <a:latin typeface="Calibri"/>
              </a:rPr>
              <a:t>Biased</a:t>
            </a:r>
          </a:p>
        </p:txBody>
      </p:sp>
      <p:sp>
        <p:nvSpPr>
          <p:cNvPr id="149" name="Oval 148"/>
          <p:cNvSpPr/>
          <p:nvPr/>
        </p:nvSpPr>
        <p:spPr>
          <a:xfrm>
            <a:off x="2379961" y="4606269"/>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2751750" y="2947165"/>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1577750" y="4547854"/>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2804544" y="3546431"/>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1584826" y="3078555"/>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1465918" y="3489995"/>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2082345" y="3757674"/>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1987682" y="4655533"/>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2390160" y="3660450"/>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2063396" y="3002240"/>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2545220" y="2886429"/>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2095288" y="4482668"/>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2416060" y="4222499"/>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1062567" y="3727175"/>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5029200" y="2697480"/>
            <a:ext cx="914400" cy="914400"/>
          </a:xfrm>
          <a:prstGeom prst="ellipse">
            <a:avLst/>
          </a:prstGeom>
          <a:solidFill>
            <a:srgbClr val="C8453F">
              <a:alpha val="25000"/>
            </a:srgbClr>
          </a:solidFill>
          <a:ln w="38100">
            <a:solidFill>
              <a:srgbClr val="C84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5476810" y="3004224"/>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5192973" y="2914275"/>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5340679" y="2766240"/>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5611987" y="2831060"/>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5558494" y="3102206"/>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5386141" y="3079129"/>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5697113" y="3087151"/>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5679716" y="3047556"/>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5310715" y="3301610"/>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5330632" y="3322228"/>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5358384" y="3344193"/>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5750265" y="3049510"/>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5643155" y="2863367"/>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5358241" y="2891001"/>
            <a:ext cx="155448" cy="155448"/>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5074920" y="5029200"/>
            <a:ext cx="1554480" cy="457200"/>
          </a:xfrm>
          <a:prstGeom prst="rect">
            <a:avLst/>
          </a:prstGeom>
          <a:noFill/>
        </p:spPr>
        <p:txBody>
          <a:bodyPr wrap="square" lIns="0" rIns="0" tIns="0" bIns="0" anchor="t">
            <a:spAutoFit/>
          </a:bodyPr>
          <a:lstStyle/>
          <a:p>
            <a:pPr algn="ctr">
              <a:spcAft>
                <a:spcPts val="600"/>
              </a:spcAft>
            </a:pPr>
            <a:r>
              <a:rPr sz="1300" b="0" i="0">
                <a:solidFill>
                  <a:srgbClr val="C8453F"/>
                </a:solidFill>
                <a:latin typeface="Calibri"/>
              </a:rPr>
              <a:t>the keenest
students only</a:t>
            </a:r>
          </a:p>
        </p:txBody>
      </p:sp>
      <p:sp>
        <p:nvSpPr>
          <p:cNvPr id="179" name="TextBox 178"/>
          <p:cNvSpPr txBox="1"/>
          <p:nvPr/>
        </p:nvSpPr>
        <p:spPr>
          <a:xfrm>
            <a:off x="960120" y="4983480"/>
            <a:ext cx="2377440" cy="548640"/>
          </a:xfrm>
          <a:prstGeom prst="rect">
            <a:avLst/>
          </a:prstGeom>
          <a:noFill/>
        </p:spPr>
        <p:txBody>
          <a:bodyPr wrap="square" lIns="0" rIns="0" tIns="0" bIns="0" anchor="ctr">
            <a:spAutoFit/>
          </a:bodyPr>
          <a:lstStyle/>
          <a:p>
            <a:pPr algn="ctr">
              <a:spcAft>
                <a:spcPts val="0"/>
              </a:spcAft>
            </a:pPr>
            <a:r>
              <a:rPr sz="2000" b="1" i="0">
                <a:solidFill>
                  <a:srgbClr val="1F7A78"/>
                </a:solidFill>
                <a:latin typeface="Calibri"/>
              </a:rPr>
              <a:t>x̄ ≈ 64.9  ✓</a:t>
            </a:r>
          </a:p>
        </p:txBody>
      </p:sp>
      <p:sp>
        <p:nvSpPr>
          <p:cNvPr id="180" name="TextBox 179"/>
          <p:cNvSpPr txBox="1"/>
          <p:nvPr/>
        </p:nvSpPr>
        <p:spPr>
          <a:xfrm>
            <a:off x="2651760" y="5532120"/>
            <a:ext cx="2743200" cy="548640"/>
          </a:xfrm>
          <a:prstGeom prst="rect">
            <a:avLst/>
          </a:prstGeom>
          <a:noFill/>
        </p:spPr>
        <p:txBody>
          <a:bodyPr wrap="square" lIns="0" rIns="0" tIns="0" bIns="0" anchor="ctr">
            <a:spAutoFit/>
          </a:bodyPr>
          <a:lstStyle/>
          <a:p>
            <a:pPr algn="ctr">
              <a:spcAft>
                <a:spcPts val="0"/>
              </a:spcAft>
            </a:pPr>
            <a:r>
              <a:rPr sz="1500" b="0" i="0">
                <a:solidFill>
                  <a:srgbClr val="5C6F6E"/>
                </a:solidFill>
                <a:latin typeface="Calibri"/>
              </a:rPr>
              <a:t>truth: μ = 64.9</a:t>
            </a:r>
          </a:p>
        </p:txBody>
      </p:sp>
      <p:sp>
        <p:nvSpPr>
          <p:cNvPr id="181" name="Rounded Rectangle 180"/>
          <p:cNvSpPr/>
          <p:nvPr/>
        </p:nvSpPr>
        <p:spPr>
          <a:xfrm>
            <a:off x="6949440" y="1645920"/>
            <a:ext cx="4690872" cy="4480560"/>
          </a:xfrm>
          <a:prstGeom prst="roundRect">
            <a:avLst>
              <a:gd name="adj" fmla="val 6000"/>
            </a:avLst>
          </a:prstGeom>
          <a:solidFill>
            <a:srgbClr val="FFFFFF"/>
          </a:solidFill>
          <a:ln w="12700">
            <a:solidFill>
              <a:srgbClr val="CFE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223760" y="1828800"/>
            <a:ext cx="4206240" cy="365760"/>
          </a:xfrm>
          <a:prstGeom prst="rect">
            <a:avLst/>
          </a:prstGeom>
          <a:noFill/>
        </p:spPr>
        <p:txBody>
          <a:bodyPr wrap="square" lIns="0" rIns="0" tIns="0" bIns="0" anchor="t">
            <a:spAutoFit/>
          </a:bodyPr>
          <a:lstStyle/>
          <a:p>
            <a:pPr algn="l">
              <a:spcAft>
                <a:spcPts val="600"/>
              </a:spcAft>
            </a:pPr>
            <a:r>
              <a:rPr sz="1700" b="1" i="0">
                <a:solidFill>
                  <a:srgbClr val="1F7A78"/>
                </a:solidFill>
                <a:latin typeface="Cambria"/>
              </a:rPr>
              <a:t>In plain words</a:t>
            </a:r>
          </a:p>
        </p:txBody>
      </p:sp>
      <p:sp>
        <p:nvSpPr>
          <p:cNvPr id="183" name="TextBox 182"/>
          <p:cNvSpPr txBox="1"/>
          <p:nvPr/>
        </p:nvSpPr>
        <p:spPr>
          <a:xfrm>
            <a:off x="7223760" y="2377440"/>
            <a:ext cx="4206240" cy="3566160"/>
          </a:xfrm>
          <a:prstGeom prst="rect">
            <a:avLst/>
          </a:prstGeom>
          <a:noFill/>
        </p:spPr>
        <p:txBody>
          <a:bodyPr wrap="square" lIns="0" rIns="0" tIns="0" bIns="0" anchor="t">
            <a:spAutoFit/>
          </a:bodyPr>
          <a:lstStyle/>
          <a:p>
            <a:pPr algn="l">
              <a:spcAft>
                <a:spcPts val="1000"/>
              </a:spcAft>
            </a:pPr>
            <a:r>
              <a:rPr sz="2200" b="1" i="0">
                <a:solidFill>
                  <a:srgbClr val="1F7A78"/>
                </a:solidFill>
                <a:latin typeface="Cambria"/>
              </a:rPr>
              <a:t>Random sample</a:t>
            </a:r>
          </a:p>
          <a:p>
            <a:pPr algn="l">
              <a:spcAft>
                <a:spcPts val="1000"/>
              </a:spcAft>
            </a:pPr>
            <a:r>
              <a:rPr sz="1700" b="0" i="0">
                <a:solidFill>
                  <a:srgbClr val="17302F"/>
                </a:solidFill>
                <a:latin typeface="Calibri"/>
              </a:rPr>
              <a:t>Everyone has an equal chance → x̄ lands near μ.</a:t>
            </a:r>
          </a:p>
          <a:p>
            <a:pPr algn="l">
              <a:spcAft>
                <a:spcPts val="1000"/>
              </a:spcAft>
            </a:pPr>
            <a:r>
              <a:rPr sz="2200" b="1" i="0">
                <a:solidFill>
                  <a:srgbClr val="C8453F"/>
                </a:solidFill>
                <a:latin typeface="Cambria"/>
              </a:rPr>
              <a:t>Biased sample</a:t>
            </a:r>
          </a:p>
          <a:p>
            <a:pPr algn="l">
              <a:spcAft>
                <a:spcPts val="1000"/>
              </a:spcAft>
            </a:pPr>
            <a:r>
              <a:rPr sz="1700" b="0" i="0">
                <a:solidFill>
                  <a:srgbClr val="17302F"/>
                </a:solidFill>
                <a:latin typeface="Calibri"/>
              </a:rPr>
              <a:t>Only one part is picked → x̄ ≈ 60.0 for the 40 keenest students. Wrong, however many you take.</a:t>
            </a:r>
          </a:p>
          <a:p>
            <a:pPr algn="l">
              <a:spcAft>
                <a:spcPts val="1000"/>
              </a:spcAft>
            </a:pPr>
            <a:r>
              <a:rPr sz="1700" b="0" i="0">
                <a:solidFill>
                  <a:srgbClr val="17302F"/>
                </a:solidFill>
                <a:latin typeface="Calibri"/>
              </a:rPr>
              <a:t>Sampling method beats sample size.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spcAft>
                <a:spcPts val="600"/>
              </a:spcAft>
            </a:pPr>
            <a:r>
              <a:rPr sz="1200" b="1" i="0">
                <a:solidFill>
                  <a:srgbClr val="1F7A78"/>
                </a:solidFill>
                <a:latin typeface="Calibri"/>
              </a:rPr>
              <a:t>WHITEBOARD 3 · SAMPLING DISTRIBUTION</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400" b="1" i="0">
                <a:solidFill>
                  <a:srgbClr val="0F3D3E"/>
                </a:solidFill>
                <a:latin typeface="Cambria"/>
              </a:rPr>
              <a:t>Averages bunch up. Individuals don’t</a:t>
            </a:r>
          </a:p>
        </p:txBody>
      </p:sp>
      <p:graphicFrame>
        <p:nvGraphicFramePr>
          <p:cNvPr id="4" name="Chart 3"/>
          <p:cNvGraphicFramePr>
            <a:graphicFrameLocks noGrp="1"/>
          </p:cNvGraphicFramePr>
          <p:nvPr/>
        </p:nvGraphicFramePr>
        <p:xfrm>
          <a:off x="548640" y="1554480"/>
          <a:ext cx="6217920" cy="4572000"/>
        </p:xfrm>
        <a:graphic>
          <a:graphicData uri="http://schemas.openxmlformats.org/drawingml/2006/chart">
            <c:chart xmlns:c="http://schemas.openxmlformats.org/drawingml/2006/chart" r:id="rId3"/>
          </a:graphicData>
        </a:graphic>
      </p:graphicFrame>
      <p:sp>
        <p:nvSpPr>
          <p:cNvPr id="5" name="TextBox 4"/>
          <p:cNvSpPr txBox="1"/>
          <p:nvPr/>
        </p:nvSpPr>
        <p:spPr>
          <a:xfrm>
            <a:off x="4572000" y="1828800"/>
            <a:ext cx="2194560" cy="365760"/>
          </a:xfrm>
          <a:prstGeom prst="rect">
            <a:avLst/>
          </a:prstGeom>
          <a:noFill/>
        </p:spPr>
        <p:txBody>
          <a:bodyPr wrap="square" lIns="0" rIns="0" tIns="0" bIns="0" anchor="t">
            <a:spAutoFit/>
          </a:bodyPr>
          <a:lstStyle/>
          <a:p>
            <a:pPr algn="l">
              <a:spcAft>
                <a:spcPts val="600"/>
              </a:spcAft>
            </a:pPr>
            <a:r>
              <a:rPr sz="1500" b="1" i="0">
                <a:solidFill>
                  <a:srgbClr val="E08A00"/>
                </a:solidFill>
                <a:latin typeface="Calibri"/>
              </a:rPr>
              <a:t>● averages of 30</a:t>
            </a:r>
          </a:p>
        </p:txBody>
      </p:sp>
      <p:sp>
        <p:nvSpPr>
          <p:cNvPr id="6" name="TextBox 5"/>
          <p:cNvSpPr txBox="1"/>
          <p:nvPr/>
        </p:nvSpPr>
        <p:spPr>
          <a:xfrm>
            <a:off x="4572000" y="2194560"/>
            <a:ext cx="2194560" cy="365760"/>
          </a:xfrm>
          <a:prstGeom prst="rect">
            <a:avLst/>
          </a:prstGeom>
          <a:noFill/>
        </p:spPr>
        <p:txBody>
          <a:bodyPr wrap="square" lIns="0" rIns="0" tIns="0" bIns="0" anchor="t">
            <a:spAutoFit/>
          </a:bodyPr>
          <a:lstStyle/>
          <a:p>
            <a:pPr algn="l">
              <a:spcAft>
                <a:spcPts val="600"/>
              </a:spcAft>
            </a:pPr>
            <a:r>
              <a:rPr sz="1500" b="1" i="0">
                <a:solidFill>
                  <a:srgbClr val="1F7A78"/>
                </a:solidFill>
                <a:latin typeface="Calibri"/>
              </a:rPr>
              <a:t>● individual students</a:t>
            </a:r>
          </a:p>
        </p:txBody>
      </p:sp>
      <p:sp>
        <p:nvSpPr>
          <p:cNvPr id="7" name="Rounded Rectangle 6"/>
          <p:cNvSpPr/>
          <p:nvPr/>
        </p:nvSpPr>
        <p:spPr>
          <a:xfrm>
            <a:off x="6949440" y="1645920"/>
            <a:ext cx="4690872" cy="4480560"/>
          </a:xfrm>
          <a:prstGeom prst="roundRect">
            <a:avLst>
              <a:gd name="adj" fmla="val 6000"/>
            </a:avLst>
          </a:prstGeom>
          <a:solidFill>
            <a:srgbClr val="FFFFFF"/>
          </a:solidFill>
          <a:ln w="12700">
            <a:solidFill>
              <a:srgbClr val="CFE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0" y="1828800"/>
            <a:ext cx="4206240" cy="365760"/>
          </a:xfrm>
          <a:prstGeom prst="rect">
            <a:avLst/>
          </a:prstGeom>
          <a:noFill/>
        </p:spPr>
        <p:txBody>
          <a:bodyPr wrap="square" lIns="0" rIns="0" tIns="0" bIns="0" anchor="t">
            <a:spAutoFit/>
          </a:bodyPr>
          <a:lstStyle/>
          <a:p>
            <a:pPr algn="l">
              <a:spcAft>
                <a:spcPts val="600"/>
              </a:spcAft>
            </a:pPr>
            <a:r>
              <a:rPr sz="1700" b="1" i="0">
                <a:solidFill>
                  <a:srgbClr val="1F7A78"/>
                </a:solidFill>
                <a:latin typeface="Cambria"/>
              </a:rPr>
              <a:t>In plain words</a:t>
            </a:r>
          </a:p>
        </p:txBody>
      </p:sp>
      <p:sp>
        <p:nvSpPr>
          <p:cNvPr id="9" name="TextBox 8"/>
          <p:cNvSpPr txBox="1"/>
          <p:nvPr/>
        </p:nvSpPr>
        <p:spPr>
          <a:xfrm>
            <a:off x="7223760" y="2377440"/>
            <a:ext cx="4206240" cy="3566160"/>
          </a:xfrm>
          <a:prstGeom prst="rect">
            <a:avLst/>
          </a:prstGeom>
          <a:noFill/>
        </p:spPr>
        <p:txBody>
          <a:bodyPr wrap="square" lIns="0" rIns="0" tIns="0" bIns="0" anchor="t">
            <a:spAutoFit/>
          </a:bodyPr>
          <a:lstStyle/>
          <a:p>
            <a:pPr algn="l">
              <a:spcAft>
                <a:spcPts val="1000"/>
              </a:spcAft>
            </a:pPr>
            <a:r>
              <a:rPr sz="2100" b="1" i="0">
                <a:solidFill>
                  <a:srgbClr val="1F7A78"/>
                </a:solidFill>
                <a:latin typeface="Cambria"/>
              </a:rPr>
              <a:t>Same centre, different width</a:t>
            </a:r>
          </a:p>
          <a:p>
            <a:pPr algn="l">
              <a:spcAft>
                <a:spcPts val="1000"/>
              </a:spcAft>
            </a:pPr>
            <a:r>
              <a:rPr sz="1700" b="0" i="0">
                <a:solidFill>
                  <a:srgbClr val="17302F"/>
                </a:solidFill>
                <a:latin typeface="Calibri"/>
              </a:rPr>
              <a:t>SD (12.2): how spread out students are.</a:t>
            </a:r>
          </a:p>
          <a:p>
            <a:pPr algn="l">
              <a:spcAft>
                <a:spcPts val="1000"/>
              </a:spcAft>
            </a:pPr>
            <a:r>
              <a:rPr sz="1700" b="0" i="0">
                <a:solidFill>
                  <a:srgbClr val="17302F"/>
                </a:solidFill>
                <a:latin typeface="Calibri"/>
              </a:rPr>
              <a:t>SE (2.2): how spread out sample AVERAGES are.</a:t>
            </a:r>
          </a:p>
          <a:p>
            <a:pPr algn="l">
              <a:spcAft>
                <a:spcPts val="1000"/>
              </a:spcAft>
            </a:pPr>
            <a:r>
              <a:rPr sz="2600" b="1" i="0">
                <a:solidFill>
                  <a:srgbClr val="B36B00"/>
                </a:solidFill>
                <a:latin typeface="Cambria"/>
              </a:rPr>
              <a:t>SE = σ / √n</a:t>
            </a:r>
          </a:p>
          <a:p>
            <a:pPr algn="l">
              <a:spcAft>
                <a:spcPts val="1000"/>
              </a:spcAft>
            </a:pPr>
            <a:r>
              <a:rPr sz="1700" b="0" i="0">
                <a:solidFill>
                  <a:srgbClr val="17302F"/>
                </a:solidFill>
                <a:latin typeface="Calibri"/>
              </a:rPr>
              <a:t>4× the data → half the error.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spcAft>
                <a:spcPts val="600"/>
              </a:spcAft>
            </a:pPr>
            <a:r>
              <a:rPr sz="1200" b="1" i="0">
                <a:solidFill>
                  <a:srgbClr val="1F7A78"/>
                </a:solidFill>
                <a:latin typeface="Calibri"/>
              </a:rPr>
              <a:t>WHITEBOARD 4 · CONFIDENCE INTERVAL</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400" b="1" i="0">
                <a:solidFill>
                  <a:srgbClr val="0F3D3E"/>
                </a:solidFill>
                <a:latin typeface="Cambria"/>
              </a:rPr>
              <a:t>Each sample throws a net</a:t>
            </a:r>
          </a:p>
        </p:txBody>
      </p:sp>
      <p:sp>
        <p:nvSpPr>
          <p:cNvPr id="4" name="Rectangle 3"/>
          <p:cNvSpPr/>
          <p:nvPr/>
        </p:nvSpPr>
        <p:spPr>
          <a:xfrm>
            <a:off x="548640" y="1645920"/>
            <a:ext cx="6035040" cy="4480560"/>
          </a:xfrm>
          <a:prstGeom prst="rect">
            <a:avLst/>
          </a:prstGeom>
          <a:noFill/>
          <a:ln w="38100">
            <a:solidFill>
              <a:srgbClr val="0F3D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3566160" y="1828800"/>
            <a:ext cx="0" cy="4114800"/>
          </a:xfrm>
          <a:prstGeom prst="line">
            <a:avLst/>
          </a:prstGeom>
          <a:ln w="38100">
            <a:solidFill>
              <a:srgbClr val="F2A541"/>
            </a:solidFill>
            <a:prstDash val="dash"/>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926080" y="1188720"/>
            <a:ext cx="1280160" cy="548640"/>
          </a:xfrm>
          <a:prstGeom prst="rect">
            <a:avLst/>
          </a:prstGeom>
          <a:noFill/>
        </p:spPr>
        <p:txBody>
          <a:bodyPr wrap="square" lIns="0" rIns="0" tIns="0" bIns="0" anchor="ctr">
            <a:spAutoFit/>
          </a:bodyPr>
          <a:lstStyle/>
          <a:p>
            <a:pPr algn="ctr">
              <a:spcAft>
                <a:spcPts val="0"/>
              </a:spcAft>
            </a:pPr>
            <a:r>
              <a:rPr sz="1600" b="1" i="0">
                <a:solidFill>
                  <a:srgbClr val="B36B00"/>
                </a:solidFill>
                <a:latin typeface="Calibri"/>
              </a:rPr>
              <a:t>true μ</a:t>
            </a:r>
          </a:p>
        </p:txBody>
      </p:sp>
      <p:cxnSp>
        <p:nvCxnSpPr>
          <p:cNvPr id="7" name="Connector 6"/>
          <p:cNvCxnSpPr/>
          <p:nvPr/>
        </p:nvCxnSpPr>
        <p:spPr>
          <a:xfrm>
            <a:off x="1959428" y="2331720"/>
            <a:ext cx="2481943" cy="0"/>
          </a:xfrm>
          <a:prstGeom prst="line">
            <a:avLst/>
          </a:prstGeom>
          <a:ln w="63500">
            <a:solidFill>
              <a:srgbClr val="1F7A7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3108960" y="2240279"/>
            <a:ext cx="182880" cy="182880"/>
          </a:xfrm>
          <a:prstGeom prst="ellipse">
            <a:avLst/>
          </a:prstGeom>
          <a:solidFill>
            <a:srgbClr val="1F7A78">
              <a:alpha val="100000"/>
            </a:srgbClr>
          </a:solidFill>
          <a:ln w="12700">
            <a:solidFill>
              <a:srgbClr val="1F7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2821577" y="2898648"/>
            <a:ext cx="2220685" cy="0"/>
          </a:xfrm>
          <a:prstGeom prst="line">
            <a:avLst/>
          </a:prstGeom>
          <a:ln w="63500">
            <a:solidFill>
              <a:srgbClr val="1F7A7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840480" y="2807208"/>
            <a:ext cx="182880" cy="182880"/>
          </a:xfrm>
          <a:prstGeom prst="ellipse">
            <a:avLst/>
          </a:prstGeom>
          <a:solidFill>
            <a:srgbClr val="1F7A78">
              <a:alpha val="100000"/>
            </a:srgbClr>
          </a:solidFill>
          <a:ln w="12700">
            <a:solidFill>
              <a:srgbClr val="1F7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881051" y="3465576"/>
            <a:ext cx="2090057" cy="0"/>
          </a:xfrm>
          <a:prstGeom prst="line">
            <a:avLst/>
          </a:prstGeom>
          <a:ln w="63500">
            <a:solidFill>
              <a:srgbClr val="1F7A78"/>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2834640" y="3374136"/>
            <a:ext cx="182880" cy="182880"/>
          </a:xfrm>
          <a:prstGeom prst="ellipse">
            <a:avLst/>
          </a:prstGeom>
          <a:solidFill>
            <a:srgbClr val="1F7A78">
              <a:alpha val="100000"/>
            </a:srgbClr>
          </a:solidFill>
          <a:ln w="12700">
            <a:solidFill>
              <a:srgbClr val="1F7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2769325" y="4032504"/>
            <a:ext cx="1959429" cy="0"/>
          </a:xfrm>
          <a:prstGeom prst="line">
            <a:avLst/>
          </a:prstGeom>
          <a:ln w="63500">
            <a:solidFill>
              <a:srgbClr val="1F7A78"/>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657599" y="3941064"/>
            <a:ext cx="182880" cy="182880"/>
          </a:xfrm>
          <a:prstGeom prst="ellipse">
            <a:avLst/>
          </a:prstGeom>
          <a:solidFill>
            <a:srgbClr val="1F7A78">
              <a:alpha val="100000"/>
            </a:srgbClr>
          </a:solidFill>
          <a:ln w="12700">
            <a:solidFill>
              <a:srgbClr val="1F7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4362994" y="4599431"/>
            <a:ext cx="1698171" cy="0"/>
          </a:xfrm>
          <a:prstGeom prst="line">
            <a:avLst/>
          </a:prstGeom>
          <a:ln w="63500">
            <a:solidFill>
              <a:srgbClr val="C8453F"/>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120640" y="4507992"/>
            <a:ext cx="182880" cy="182880"/>
          </a:xfrm>
          <a:prstGeom prst="ellipse">
            <a:avLst/>
          </a:prstGeom>
          <a:solidFill>
            <a:srgbClr val="C8453F">
              <a:alpha val="100000"/>
            </a:srgbClr>
          </a:solidFill>
          <a:ln w="12700">
            <a:solidFill>
              <a:srgbClr val="C84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2299062" y="5166360"/>
            <a:ext cx="2351315" cy="0"/>
          </a:xfrm>
          <a:prstGeom prst="line">
            <a:avLst/>
          </a:prstGeom>
          <a:ln w="63500">
            <a:solidFill>
              <a:srgbClr val="1F7A78"/>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3383279" y="5074920"/>
            <a:ext cx="182880" cy="182880"/>
          </a:xfrm>
          <a:prstGeom prst="ellipse">
            <a:avLst/>
          </a:prstGeom>
          <a:solidFill>
            <a:srgbClr val="1F7A78">
              <a:alpha val="100000"/>
            </a:srgbClr>
          </a:solidFill>
          <a:ln w="12700">
            <a:solidFill>
              <a:srgbClr val="1F7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4754880"/>
            <a:ext cx="1463040" cy="548640"/>
          </a:xfrm>
          <a:prstGeom prst="rect">
            <a:avLst/>
          </a:prstGeom>
          <a:noFill/>
        </p:spPr>
        <p:txBody>
          <a:bodyPr wrap="square" lIns="0" rIns="0" tIns="0" bIns="0" anchor="ctr">
            <a:spAutoFit/>
          </a:bodyPr>
          <a:lstStyle/>
          <a:p>
            <a:pPr algn="ctr">
              <a:spcAft>
                <a:spcPts val="0"/>
              </a:spcAft>
            </a:pPr>
            <a:r>
              <a:rPr sz="1500" b="1" i="0">
                <a:solidFill>
                  <a:srgbClr val="C8453F"/>
                </a:solidFill>
                <a:latin typeface="Calibri"/>
              </a:rPr>
              <a:t>missed ✗</a:t>
            </a:r>
          </a:p>
        </p:txBody>
      </p:sp>
      <p:sp>
        <p:nvSpPr>
          <p:cNvPr id="20" name="Rounded Rectangle 19"/>
          <p:cNvSpPr/>
          <p:nvPr/>
        </p:nvSpPr>
        <p:spPr>
          <a:xfrm>
            <a:off x="6949440" y="1645920"/>
            <a:ext cx="4690872" cy="4480560"/>
          </a:xfrm>
          <a:prstGeom prst="roundRect">
            <a:avLst>
              <a:gd name="adj" fmla="val 6000"/>
            </a:avLst>
          </a:prstGeom>
          <a:solidFill>
            <a:srgbClr val="FFFFFF"/>
          </a:solidFill>
          <a:ln w="12700">
            <a:solidFill>
              <a:srgbClr val="CFE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1828800"/>
            <a:ext cx="4206240" cy="365760"/>
          </a:xfrm>
          <a:prstGeom prst="rect">
            <a:avLst/>
          </a:prstGeom>
          <a:noFill/>
        </p:spPr>
        <p:txBody>
          <a:bodyPr wrap="square" lIns="0" rIns="0" tIns="0" bIns="0" anchor="t">
            <a:spAutoFit/>
          </a:bodyPr>
          <a:lstStyle/>
          <a:p>
            <a:pPr algn="l">
              <a:spcAft>
                <a:spcPts val="600"/>
              </a:spcAft>
            </a:pPr>
            <a:r>
              <a:rPr sz="1700" b="1" i="0">
                <a:solidFill>
                  <a:srgbClr val="1F7A78"/>
                </a:solidFill>
                <a:latin typeface="Cambria"/>
              </a:rPr>
              <a:t>In plain words</a:t>
            </a:r>
          </a:p>
        </p:txBody>
      </p:sp>
      <p:sp>
        <p:nvSpPr>
          <p:cNvPr id="22" name="TextBox 21"/>
          <p:cNvSpPr txBox="1"/>
          <p:nvPr/>
        </p:nvSpPr>
        <p:spPr>
          <a:xfrm>
            <a:off x="7223760" y="2377440"/>
            <a:ext cx="4206240" cy="3566160"/>
          </a:xfrm>
          <a:prstGeom prst="rect">
            <a:avLst/>
          </a:prstGeom>
          <a:noFill/>
        </p:spPr>
        <p:txBody>
          <a:bodyPr wrap="square" lIns="0" rIns="0" tIns="0" bIns="0" anchor="t">
            <a:spAutoFit/>
          </a:bodyPr>
          <a:lstStyle/>
          <a:p>
            <a:pPr algn="l">
              <a:spcAft>
                <a:spcPts val="1000"/>
              </a:spcAft>
            </a:pPr>
            <a:r>
              <a:rPr sz="2600" b="1" i="0">
                <a:solidFill>
                  <a:srgbClr val="1F7A78"/>
                </a:solidFill>
                <a:latin typeface="Cambria"/>
              </a:rPr>
              <a:t>x̄  ±  t* × s/√n</a:t>
            </a:r>
          </a:p>
          <a:p>
            <a:pPr algn="l">
              <a:spcAft>
                <a:spcPts val="1000"/>
              </a:spcAft>
            </a:pPr>
            <a:r>
              <a:rPr sz="1700" b="0" i="0">
                <a:solidFill>
                  <a:srgbClr val="17302F"/>
                </a:solidFill>
                <a:latin typeface="Calibri"/>
              </a:rPr>
              <a:t>Sample mean, plus and minus a margin of error.</a:t>
            </a:r>
          </a:p>
          <a:p>
            <a:pPr algn="l">
              <a:spcAft>
                <a:spcPts val="1000"/>
              </a:spcAft>
            </a:pPr>
            <a:r>
              <a:rPr sz="1700" b="0" i="0">
                <a:solidFill>
                  <a:srgbClr val="17302F"/>
                </a:solidFill>
                <a:latin typeface="Calibri"/>
              </a:rPr>
              <a:t>Example (n = 40): 65.1 ± 3.3 = 61.9 to 68.4</a:t>
            </a:r>
          </a:p>
          <a:p>
            <a:pPr algn="l">
              <a:spcAft>
                <a:spcPts val="1000"/>
              </a:spcAft>
            </a:pPr>
            <a:r>
              <a:rPr sz="1900" b="1" i="0">
                <a:solidFill>
                  <a:srgbClr val="B36B00"/>
                </a:solidFill>
                <a:latin typeface="Cambria"/>
              </a:rPr>
              <a:t>95% describes the method</a:t>
            </a:r>
          </a:p>
          <a:p>
            <a:pPr algn="l">
              <a:spcAft>
                <a:spcPts val="1000"/>
              </a:spcAft>
            </a:pPr>
            <a:r>
              <a:rPr sz="1700" b="0" i="0">
                <a:solidFill>
                  <a:srgbClr val="17302F"/>
                </a:solidFill>
                <a:latin typeface="Calibri"/>
              </a:rPr>
              <a:t>Repeat many times: about 95 in 100 nets catch μ.</a:t>
            </a:r>
          </a:p>
          <a:p>
            <a:pPr algn="l">
              <a:spcAft>
                <a:spcPts val="1000"/>
              </a:spcAft>
            </a:pPr>
            <a:r>
              <a:rPr sz="1700" b="0" i="0">
                <a:solidFill>
                  <a:srgbClr val="17302F"/>
                </a:solidFill>
                <a:latin typeface="Calibri"/>
              </a:rPr>
              <a:t>Wider net = more sure but less precise. More data = narrower net.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spcAft>
                <a:spcPts val="600"/>
              </a:spcAft>
            </a:pPr>
            <a:r>
              <a:rPr sz="1200" b="1" i="0">
                <a:solidFill>
                  <a:srgbClr val="1F7A78"/>
                </a:solidFill>
                <a:latin typeface="Calibri"/>
              </a:rPr>
              <a:t>WHITEBOARD 5 · P-VALUE</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400" b="1" i="0">
                <a:solidFill>
                  <a:srgbClr val="0F3D3E"/>
                </a:solidFill>
                <a:latin typeface="Cambria"/>
              </a:rPr>
              <a:t>The p-value is an area in the tails</a:t>
            </a:r>
          </a:p>
        </p:txBody>
      </p:sp>
      <p:graphicFrame>
        <p:nvGraphicFramePr>
          <p:cNvPr id="4" name="Chart 3"/>
          <p:cNvGraphicFramePr>
            <a:graphicFrameLocks noGrp="1"/>
          </p:cNvGraphicFramePr>
          <p:nvPr/>
        </p:nvGraphicFramePr>
        <p:xfrm>
          <a:off x="548640" y="1554480"/>
          <a:ext cx="6217920" cy="4572000"/>
        </p:xfrm>
        <a:graphic>
          <a:graphicData uri="http://schemas.openxmlformats.org/drawingml/2006/chart">
            <c:chart xmlns:c="http://schemas.openxmlformats.org/drawingml/2006/chart" r:id="rId3"/>
          </a:graphicData>
        </a:graphic>
      </p:graphicFrame>
      <p:sp>
        <p:nvSpPr>
          <p:cNvPr id="5" name="TextBox 4"/>
          <p:cNvSpPr txBox="1"/>
          <p:nvPr/>
        </p:nvSpPr>
        <p:spPr>
          <a:xfrm>
            <a:off x="3017520" y="1691640"/>
            <a:ext cx="3657600" cy="365760"/>
          </a:xfrm>
          <a:prstGeom prst="rect">
            <a:avLst/>
          </a:prstGeom>
          <a:noFill/>
        </p:spPr>
        <p:txBody>
          <a:bodyPr wrap="square" lIns="0" rIns="0" tIns="0" bIns="0" anchor="t">
            <a:spAutoFit/>
          </a:bodyPr>
          <a:lstStyle/>
          <a:p>
            <a:pPr algn="l">
              <a:spcAft>
                <a:spcPts val="600"/>
              </a:spcAft>
            </a:pPr>
            <a:r>
              <a:rPr sz="1400" b="1" i="0">
                <a:solidFill>
                  <a:srgbClr val="C8453F"/>
                </a:solidFill>
                <a:latin typeface="Calibri"/>
              </a:rPr>
              <a:t>red = results at least as extreme as ours</a:t>
            </a:r>
          </a:p>
        </p:txBody>
      </p:sp>
      <p:sp>
        <p:nvSpPr>
          <p:cNvPr id="6" name="Rounded Rectangle 5"/>
          <p:cNvSpPr/>
          <p:nvPr/>
        </p:nvSpPr>
        <p:spPr>
          <a:xfrm>
            <a:off x="6949440" y="1645920"/>
            <a:ext cx="4690872" cy="4480560"/>
          </a:xfrm>
          <a:prstGeom prst="roundRect">
            <a:avLst>
              <a:gd name="adj" fmla="val 6000"/>
            </a:avLst>
          </a:prstGeom>
          <a:solidFill>
            <a:srgbClr val="FFFFFF"/>
          </a:solidFill>
          <a:ln w="12700">
            <a:solidFill>
              <a:srgbClr val="CFE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1828800"/>
            <a:ext cx="4206240" cy="365760"/>
          </a:xfrm>
          <a:prstGeom prst="rect">
            <a:avLst/>
          </a:prstGeom>
          <a:noFill/>
        </p:spPr>
        <p:txBody>
          <a:bodyPr wrap="square" lIns="0" rIns="0" tIns="0" bIns="0" anchor="t">
            <a:spAutoFit/>
          </a:bodyPr>
          <a:lstStyle/>
          <a:p>
            <a:pPr algn="l">
              <a:spcAft>
                <a:spcPts val="600"/>
              </a:spcAft>
            </a:pPr>
            <a:r>
              <a:rPr sz="1700" b="1" i="0">
                <a:solidFill>
                  <a:srgbClr val="1F7A78"/>
                </a:solidFill>
                <a:latin typeface="Cambria"/>
              </a:rPr>
              <a:t>In plain words</a:t>
            </a:r>
          </a:p>
        </p:txBody>
      </p:sp>
      <p:sp>
        <p:nvSpPr>
          <p:cNvPr id="8" name="TextBox 7"/>
          <p:cNvSpPr txBox="1"/>
          <p:nvPr/>
        </p:nvSpPr>
        <p:spPr>
          <a:xfrm>
            <a:off x="7223760" y="2377440"/>
            <a:ext cx="4206240" cy="3566160"/>
          </a:xfrm>
          <a:prstGeom prst="rect">
            <a:avLst/>
          </a:prstGeom>
          <a:noFill/>
        </p:spPr>
        <p:txBody>
          <a:bodyPr wrap="square" lIns="0" rIns="0" tIns="0" bIns="0" anchor="t">
            <a:spAutoFit/>
          </a:bodyPr>
          <a:lstStyle/>
          <a:p>
            <a:pPr algn="l">
              <a:spcAft>
                <a:spcPts val="1000"/>
              </a:spcAft>
            </a:pPr>
            <a:r>
              <a:rPr sz="1900" b="1" i="0">
                <a:solidFill>
                  <a:srgbClr val="1F7A78"/>
                </a:solidFill>
                <a:latin typeface="Cambria"/>
              </a:rPr>
              <a:t>Assume H₀: nothing is going on</a:t>
            </a:r>
          </a:p>
          <a:p>
            <a:pPr algn="l">
              <a:spcAft>
                <a:spcPts val="1000"/>
              </a:spcAft>
            </a:pPr>
            <a:r>
              <a:rPr sz="1700" b="0" i="0">
                <a:solidFill>
                  <a:srgbClr val="17302F"/>
                </a:solidFill>
                <a:latin typeface="Calibri"/>
              </a:rPr>
              <a:t>The bell = what luck alone would produce.</a:t>
            </a:r>
          </a:p>
          <a:p>
            <a:pPr algn="l">
              <a:spcAft>
                <a:spcPts val="1000"/>
              </a:spcAft>
            </a:pPr>
            <a:r>
              <a:rPr sz="1900" b="1" i="0">
                <a:solidFill>
                  <a:srgbClr val="C8453F"/>
                </a:solidFill>
                <a:latin typeface="Cambria"/>
              </a:rPr>
              <a:t>Our result: t = 2.2, far out</a:t>
            </a:r>
          </a:p>
          <a:p>
            <a:pPr algn="l">
              <a:spcAft>
                <a:spcPts val="1000"/>
              </a:spcAft>
            </a:pPr>
            <a:r>
              <a:rPr sz="1700" b="0" i="0">
                <a:solidFill>
                  <a:srgbClr val="17302F"/>
                </a:solidFill>
                <a:latin typeface="Calibri"/>
              </a:rPr>
              <a:t>p = the red area ≈ 0.028 (both tails).</a:t>
            </a:r>
          </a:p>
          <a:p>
            <a:pPr algn="l">
              <a:spcAft>
                <a:spcPts val="1000"/>
              </a:spcAft>
            </a:pPr>
            <a:r>
              <a:rPr sz="1700" b="0" i="0">
                <a:solidFill>
                  <a:srgbClr val="17302F"/>
                </a:solidFill>
                <a:latin typeface="Calibri"/>
              </a:rPr>
              <a:t>p small → luck alone rarely does this.</a:t>
            </a:r>
          </a:p>
          <a:p>
            <a:pPr algn="l">
              <a:spcAft>
                <a:spcPts val="1000"/>
              </a:spcAft>
            </a:pPr>
            <a:r>
              <a:rPr sz="1700" b="0" i="0">
                <a:solidFill>
                  <a:srgbClr val="17302F"/>
                </a:solidFill>
                <a:latin typeface="Calibri"/>
              </a:rPr>
              <a:t>p is NOT the chance that H₀ is true.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spcAft>
                <a:spcPts val="600"/>
              </a:spcAft>
            </a:pPr>
            <a:r>
              <a:rPr sz="1200" b="1" i="0">
                <a:solidFill>
                  <a:srgbClr val="1F7A78"/>
                </a:solidFill>
                <a:latin typeface="Calibri"/>
              </a:rPr>
              <a:t>WHITEBOARD 6 · TWO WAYS TO BE WRONG</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400" b="1" i="0">
                <a:solidFill>
                  <a:srgbClr val="0F3D3E"/>
                </a:solidFill>
                <a:latin typeface="Cambria"/>
              </a:rPr>
              <a:t>Venn diagram of testing errors</a:t>
            </a:r>
          </a:p>
        </p:txBody>
      </p:sp>
      <p:sp>
        <p:nvSpPr>
          <p:cNvPr id="4" name="Rectangle 3"/>
          <p:cNvSpPr/>
          <p:nvPr/>
        </p:nvSpPr>
        <p:spPr>
          <a:xfrm>
            <a:off x="548640" y="1645920"/>
            <a:ext cx="6035040" cy="4480560"/>
          </a:xfrm>
          <a:prstGeom prst="rect">
            <a:avLst/>
          </a:prstGeom>
          <a:noFill/>
          <a:ln w="38100">
            <a:solidFill>
              <a:srgbClr val="0F3D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114800" cy="365760"/>
          </a:xfrm>
          <a:prstGeom prst="rect">
            <a:avLst/>
          </a:prstGeom>
          <a:noFill/>
        </p:spPr>
        <p:txBody>
          <a:bodyPr wrap="square" lIns="0" rIns="0" tIns="0" bIns="0" anchor="t">
            <a:spAutoFit/>
          </a:bodyPr>
          <a:lstStyle/>
          <a:p>
            <a:pPr algn="l">
              <a:spcAft>
                <a:spcPts val="600"/>
              </a:spcAft>
            </a:pPr>
            <a:r>
              <a:rPr sz="1500" b="0" i="0">
                <a:solidFill>
                  <a:srgbClr val="5C6F6E"/>
                </a:solidFill>
                <a:latin typeface="Calibri"/>
              </a:rPr>
              <a:t>all studies you could run</a:t>
            </a:r>
          </a:p>
        </p:txBody>
      </p:sp>
      <p:sp>
        <p:nvSpPr>
          <p:cNvPr id="6" name="Oval 5"/>
          <p:cNvSpPr/>
          <p:nvPr/>
        </p:nvSpPr>
        <p:spPr>
          <a:xfrm>
            <a:off x="1280160" y="2377440"/>
            <a:ext cx="2926080" cy="2926080"/>
          </a:xfrm>
          <a:prstGeom prst="ellipse">
            <a:avLst/>
          </a:prstGeom>
          <a:solidFill>
            <a:srgbClr val="1F7A78">
              <a:alpha val="30000"/>
            </a:srgbClr>
          </a:solidFill>
          <a:ln w="50800">
            <a:solidFill>
              <a:srgbClr val="1F7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926079" y="2377440"/>
            <a:ext cx="2926080" cy="2926080"/>
          </a:xfrm>
          <a:prstGeom prst="ellipse">
            <a:avLst/>
          </a:prstGeom>
          <a:solidFill>
            <a:srgbClr val="C8453F">
              <a:alpha val="30000"/>
            </a:srgbClr>
          </a:solidFill>
          <a:ln w="50800">
            <a:solidFill>
              <a:srgbClr val="C84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3566160"/>
            <a:ext cx="1280160" cy="548640"/>
          </a:xfrm>
          <a:prstGeom prst="rect">
            <a:avLst/>
          </a:prstGeom>
          <a:noFill/>
        </p:spPr>
        <p:txBody>
          <a:bodyPr wrap="square" lIns="0" rIns="0" tIns="0" bIns="0" anchor="ctr">
            <a:spAutoFit/>
          </a:bodyPr>
          <a:lstStyle/>
          <a:p>
            <a:pPr algn="ctr">
              <a:spcAft>
                <a:spcPts val="0"/>
              </a:spcAft>
            </a:pPr>
            <a:r>
              <a:rPr sz="1400" b="0" i="0">
                <a:solidFill>
                  <a:srgbClr val="0F3D3E"/>
                </a:solidFill>
                <a:latin typeface="Calibri"/>
              </a:rPr>
              <a:t>nothing there,
nothing
claimed ✓</a:t>
            </a:r>
          </a:p>
        </p:txBody>
      </p:sp>
      <p:sp>
        <p:nvSpPr>
          <p:cNvPr id="9" name="TextBox 8"/>
          <p:cNvSpPr txBox="1"/>
          <p:nvPr/>
        </p:nvSpPr>
        <p:spPr>
          <a:xfrm>
            <a:off x="2834639" y="3566160"/>
            <a:ext cx="1463040" cy="548640"/>
          </a:xfrm>
          <a:prstGeom prst="rect">
            <a:avLst/>
          </a:prstGeom>
          <a:noFill/>
        </p:spPr>
        <p:txBody>
          <a:bodyPr wrap="square" lIns="0" rIns="0" tIns="0" bIns="0" anchor="ctr">
            <a:spAutoFit/>
          </a:bodyPr>
          <a:lstStyle/>
          <a:p>
            <a:pPr algn="ctr">
              <a:spcAft>
                <a:spcPts val="0"/>
              </a:spcAft>
            </a:pPr>
            <a:r>
              <a:rPr sz="1700" b="1" i="0">
                <a:solidFill>
                  <a:srgbClr val="C8453F"/>
                </a:solidFill>
                <a:latin typeface="Calibri"/>
              </a:rPr>
              <a:t>TYPE I
false alarm</a:t>
            </a:r>
          </a:p>
        </p:txBody>
      </p:sp>
      <p:sp>
        <p:nvSpPr>
          <p:cNvPr id="10" name="TextBox 9"/>
          <p:cNvSpPr txBox="1"/>
          <p:nvPr/>
        </p:nvSpPr>
        <p:spPr>
          <a:xfrm>
            <a:off x="4434840" y="3566160"/>
            <a:ext cx="1463040" cy="548640"/>
          </a:xfrm>
          <a:prstGeom prst="rect">
            <a:avLst/>
          </a:prstGeom>
          <a:noFill/>
        </p:spPr>
        <p:txBody>
          <a:bodyPr wrap="square" lIns="0" rIns="0" tIns="0" bIns="0" anchor="ctr">
            <a:spAutoFit/>
          </a:bodyPr>
          <a:lstStyle/>
          <a:p>
            <a:pPr algn="ctr">
              <a:spcAft>
                <a:spcPts val="0"/>
              </a:spcAft>
            </a:pPr>
            <a:r>
              <a:rPr sz="1600" b="1" i="0">
                <a:solidFill>
                  <a:srgbClr val="0F3D3E"/>
                </a:solidFill>
                <a:latin typeface="Calibri"/>
              </a:rPr>
              <a:t>real effect
found ✓</a:t>
            </a:r>
          </a:p>
        </p:txBody>
      </p:sp>
      <p:sp>
        <p:nvSpPr>
          <p:cNvPr id="11" name="TextBox 10"/>
          <p:cNvSpPr txBox="1"/>
          <p:nvPr/>
        </p:nvSpPr>
        <p:spPr>
          <a:xfrm>
            <a:off x="365759" y="5440680"/>
            <a:ext cx="4023360" cy="548640"/>
          </a:xfrm>
          <a:prstGeom prst="rect">
            <a:avLst/>
          </a:prstGeom>
          <a:noFill/>
        </p:spPr>
        <p:txBody>
          <a:bodyPr wrap="square" lIns="0" rIns="0" tIns="0" bIns="0" anchor="ctr">
            <a:spAutoFit/>
          </a:bodyPr>
          <a:lstStyle/>
          <a:p>
            <a:pPr algn="ctr">
              <a:spcAft>
                <a:spcPts val="0"/>
              </a:spcAft>
            </a:pPr>
            <a:r>
              <a:rPr sz="1400" b="1" i="0">
                <a:solidFill>
                  <a:srgbClr val="B36B00"/>
                </a:solidFill>
                <a:latin typeface="Calibri"/>
              </a:rPr>
              <a:t>outside both = TYPE II (real effect missed)</a:t>
            </a:r>
          </a:p>
        </p:txBody>
      </p:sp>
      <p:sp>
        <p:nvSpPr>
          <p:cNvPr id="12" name="TextBox 11"/>
          <p:cNvSpPr txBox="1"/>
          <p:nvPr/>
        </p:nvSpPr>
        <p:spPr>
          <a:xfrm>
            <a:off x="1234440" y="2148840"/>
            <a:ext cx="2286000" cy="365760"/>
          </a:xfrm>
          <a:prstGeom prst="rect">
            <a:avLst/>
          </a:prstGeom>
          <a:noFill/>
        </p:spPr>
        <p:txBody>
          <a:bodyPr wrap="square" lIns="0" rIns="0" tIns="0" bIns="0" anchor="t">
            <a:spAutoFit/>
          </a:bodyPr>
          <a:lstStyle/>
          <a:p>
            <a:pPr algn="l">
              <a:spcAft>
                <a:spcPts val="600"/>
              </a:spcAft>
            </a:pPr>
            <a:r>
              <a:rPr sz="1600" b="1" i="0">
                <a:solidFill>
                  <a:srgbClr val="1F7A78"/>
                </a:solidFill>
                <a:latin typeface="Calibri"/>
              </a:rPr>
              <a:t>T: H₀ is true</a:t>
            </a:r>
          </a:p>
        </p:txBody>
      </p:sp>
      <p:sp>
        <p:nvSpPr>
          <p:cNvPr id="13" name="TextBox 12"/>
          <p:cNvSpPr txBox="1"/>
          <p:nvPr/>
        </p:nvSpPr>
        <p:spPr>
          <a:xfrm>
            <a:off x="4114800" y="2148840"/>
            <a:ext cx="2377440" cy="365760"/>
          </a:xfrm>
          <a:prstGeom prst="rect">
            <a:avLst/>
          </a:prstGeom>
          <a:noFill/>
        </p:spPr>
        <p:txBody>
          <a:bodyPr wrap="square" lIns="0" rIns="0" tIns="0" bIns="0" anchor="t">
            <a:spAutoFit/>
          </a:bodyPr>
          <a:lstStyle/>
          <a:p>
            <a:pPr algn="l">
              <a:spcAft>
                <a:spcPts val="600"/>
              </a:spcAft>
            </a:pPr>
            <a:r>
              <a:rPr sz="1600" b="1" i="0">
                <a:solidFill>
                  <a:srgbClr val="C8453F"/>
                </a:solidFill>
                <a:latin typeface="Calibri"/>
              </a:rPr>
              <a:t>R: we reject H₀</a:t>
            </a:r>
          </a:p>
        </p:txBody>
      </p:sp>
      <p:sp>
        <p:nvSpPr>
          <p:cNvPr id="14" name="Rounded Rectangle 13"/>
          <p:cNvSpPr/>
          <p:nvPr/>
        </p:nvSpPr>
        <p:spPr>
          <a:xfrm>
            <a:off x="6949440" y="1645920"/>
            <a:ext cx="4690872" cy="4480560"/>
          </a:xfrm>
          <a:prstGeom prst="roundRect">
            <a:avLst>
              <a:gd name="adj" fmla="val 6000"/>
            </a:avLst>
          </a:prstGeom>
          <a:solidFill>
            <a:srgbClr val="FFFFFF"/>
          </a:solidFill>
          <a:ln w="12700">
            <a:solidFill>
              <a:srgbClr val="CFE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1828800"/>
            <a:ext cx="4206240" cy="365760"/>
          </a:xfrm>
          <a:prstGeom prst="rect">
            <a:avLst/>
          </a:prstGeom>
          <a:noFill/>
        </p:spPr>
        <p:txBody>
          <a:bodyPr wrap="square" lIns="0" rIns="0" tIns="0" bIns="0" anchor="t">
            <a:spAutoFit/>
          </a:bodyPr>
          <a:lstStyle/>
          <a:p>
            <a:pPr algn="l">
              <a:spcAft>
                <a:spcPts val="600"/>
              </a:spcAft>
            </a:pPr>
            <a:r>
              <a:rPr sz="1700" b="1" i="0">
                <a:solidFill>
                  <a:srgbClr val="1F7A78"/>
                </a:solidFill>
                <a:latin typeface="Cambria"/>
              </a:rPr>
              <a:t>In plain words</a:t>
            </a:r>
          </a:p>
        </p:txBody>
      </p:sp>
      <p:sp>
        <p:nvSpPr>
          <p:cNvPr id="16" name="TextBox 15"/>
          <p:cNvSpPr txBox="1"/>
          <p:nvPr/>
        </p:nvSpPr>
        <p:spPr>
          <a:xfrm>
            <a:off x="7223760" y="2377440"/>
            <a:ext cx="4206240" cy="3566160"/>
          </a:xfrm>
          <a:prstGeom prst="rect">
            <a:avLst/>
          </a:prstGeom>
          <a:noFill/>
        </p:spPr>
        <p:txBody>
          <a:bodyPr wrap="square" lIns="0" rIns="0" tIns="0" bIns="0" anchor="t">
            <a:spAutoFit/>
          </a:bodyPr>
          <a:lstStyle/>
          <a:p>
            <a:pPr algn="l">
              <a:spcAft>
                <a:spcPts val="1000"/>
              </a:spcAft>
            </a:pPr>
            <a:r>
              <a:rPr sz="2100" b="1" i="0">
                <a:solidFill>
                  <a:srgbClr val="C8453F"/>
                </a:solidFill>
                <a:latin typeface="Cambria"/>
              </a:rPr>
              <a:t>Overlap = Type I</a:t>
            </a:r>
          </a:p>
          <a:p>
            <a:pPr algn="l">
              <a:spcAft>
                <a:spcPts val="1000"/>
              </a:spcAft>
            </a:pPr>
            <a:r>
              <a:rPr sz="1700" b="0" i="0">
                <a:solidFill>
                  <a:srgbClr val="17302F"/>
                </a:solidFill>
                <a:latin typeface="Calibri"/>
              </a:rPr>
              <a:t>We said “significant” but nothing was there. Chance = α (5%).</a:t>
            </a:r>
          </a:p>
          <a:p>
            <a:pPr algn="l">
              <a:spcAft>
                <a:spcPts val="1000"/>
              </a:spcAft>
            </a:pPr>
            <a:r>
              <a:rPr sz="2100" b="1" i="0">
                <a:solidFill>
                  <a:srgbClr val="B36B00"/>
                </a:solidFill>
                <a:latin typeface="Cambria"/>
              </a:rPr>
              <a:t>Outside both = Type II</a:t>
            </a:r>
          </a:p>
          <a:p>
            <a:pPr algn="l">
              <a:spcAft>
                <a:spcPts val="1000"/>
              </a:spcAft>
            </a:pPr>
            <a:r>
              <a:rPr sz="1700" b="0" i="0">
                <a:solidFill>
                  <a:srgbClr val="17302F"/>
                </a:solidFill>
                <a:latin typeface="Calibri"/>
              </a:rPr>
              <a:t>A real effect, but our data didn’t show it. Fix: more data.</a:t>
            </a:r>
          </a:p>
          <a:p>
            <a:pPr algn="l">
              <a:spcAft>
                <a:spcPts val="1000"/>
              </a:spcAft>
            </a:pPr>
            <a:r>
              <a:rPr sz="1700" b="0" i="0">
                <a:solidFill>
                  <a:srgbClr val="17302F"/>
                </a:solidFill>
                <a:latin typeface="Calibri"/>
              </a:rPr>
              <a:t>Power = the chance of finding a real effect.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spcAft>
                <a:spcPts val="600"/>
              </a:spcAft>
            </a:pPr>
            <a:r>
              <a:rPr sz="1200" b="1" i="0">
                <a:solidFill>
                  <a:srgbClr val="1F7A78"/>
                </a:solidFill>
                <a:latin typeface="Calibri"/>
              </a:rPr>
              <a:t>WHITEBOARD 7 · EFFECT SIZE</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400" b="1" i="0">
                <a:solidFill>
                  <a:srgbClr val="0F3D3E"/>
                </a:solidFill>
                <a:latin typeface="Cambria"/>
              </a:rPr>
              <a:t>How far apart are the two bells?</a:t>
            </a:r>
          </a:p>
        </p:txBody>
      </p:sp>
      <p:graphicFrame>
        <p:nvGraphicFramePr>
          <p:cNvPr id="4" name="Chart 3"/>
          <p:cNvGraphicFramePr>
            <a:graphicFrameLocks noGrp="1"/>
          </p:cNvGraphicFramePr>
          <p:nvPr/>
        </p:nvGraphicFramePr>
        <p:xfrm>
          <a:off x="548640" y="1600200"/>
          <a:ext cx="3611880" cy="3291840"/>
        </p:xfrm>
        <a:graphic>
          <a:graphicData uri="http://schemas.openxmlformats.org/drawingml/2006/chart">
            <c:chart xmlns:c="http://schemas.openxmlformats.org/drawingml/2006/chart" r:id="rId3"/>
          </a:graphicData>
        </a:graphic>
      </p:graphicFrame>
      <p:sp>
        <p:nvSpPr>
          <p:cNvPr id="5" name="Rounded Rectangle 4"/>
          <p:cNvSpPr/>
          <p:nvPr/>
        </p:nvSpPr>
        <p:spPr>
          <a:xfrm>
            <a:off x="548640" y="4983480"/>
            <a:ext cx="3611880" cy="1097280"/>
          </a:xfrm>
          <a:prstGeom prst="roundRect">
            <a:avLst>
              <a:gd name="adj" fmla="val 6000"/>
            </a:avLst>
          </a:prstGeom>
          <a:solidFill>
            <a:srgbClr val="FFFFFF"/>
          </a:solidFill>
          <a:ln w="12700">
            <a:solidFill>
              <a:srgbClr val="CFE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5029200"/>
            <a:ext cx="3246120" cy="548640"/>
          </a:xfrm>
          <a:prstGeom prst="rect">
            <a:avLst/>
          </a:prstGeom>
          <a:noFill/>
        </p:spPr>
        <p:txBody>
          <a:bodyPr wrap="square" lIns="0" rIns="0" tIns="0" bIns="0" anchor="t">
            <a:spAutoFit/>
          </a:bodyPr>
          <a:lstStyle/>
          <a:p>
            <a:pPr algn="l">
              <a:spcAft>
                <a:spcPts val="600"/>
              </a:spcAft>
            </a:pPr>
            <a:r>
              <a:rPr sz="2600" b="1" i="0">
                <a:solidFill>
                  <a:srgbClr val="0F3D3E"/>
                </a:solidFill>
                <a:latin typeface="Cambria"/>
              </a:rPr>
              <a:t>d = 0.2</a:t>
            </a:r>
          </a:p>
        </p:txBody>
      </p:sp>
      <p:sp>
        <p:nvSpPr>
          <p:cNvPr id="7" name="TextBox 6"/>
          <p:cNvSpPr txBox="1"/>
          <p:nvPr/>
        </p:nvSpPr>
        <p:spPr>
          <a:xfrm>
            <a:off x="731520" y="5577840"/>
            <a:ext cx="3246120" cy="457200"/>
          </a:xfrm>
          <a:prstGeom prst="rect">
            <a:avLst/>
          </a:prstGeom>
          <a:noFill/>
        </p:spPr>
        <p:txBody>
          <a:bodyPr wrap="square" lIns="0" rIns="0" tIns="0" bIns="0" anchor="t">
            <a:spAutoFit/>
          </a:bodyPr>
          <a:lstStyle/>
          <a:p>
            <a:pPr algn="l">
              <a:spcAft>
                <a:spcPts val="600"/>
              </a:spcAft>
            </a:pPr>
            <a:r>
              <a:rPr sz="1500" b="0" i="0">
                <a:solidFill>
                  <a:srgbClr val="5C6F6E"/>
                </a:solidFill>
                <a:latin typeface="Calibri"/>
              </a:rPr>
              <a:t>overlap ≈ 92%   (small)</a:t>
            </a:r>
          </a:p>
        </p:txBody>
      </p:sp>
      <p:graphicFrame>
        <p:nvGraphicFramePr>
          <p:cNvPr id="8" name="Chart 7"/>
          <p:cNvGraphicFramePr>
            <a:graphicFrameLocks noGrp="1"/>
          </p:cNvGraphicFramePr>
          <p:nvPr/>
        </p:nvGraphicFramePr>
        <p:xfrm>
          <a:off x="4297679" y="1600200"/>
          <a:ext cx="3611880" cy="3291840"/>
        </p:xfrm>
        <a:graphic>
          <a:graphicData uri="http://schemas.openxmlformats.org/drawingml/2006/chart">
            <c:chart xmlns:c="http://schemas.openxmlformats.org/drawingml/2006/chart" r:id="rId4"/>
          </a:graphicData>
        </a:graphic>
      </p:graphicFrame>
      <p:sp>
        <p:nvSpPr>
          <p:cNvPr id="9" name="Rounded Rectangle 8"/>
          <p:cNvSpPr/>
          <p:nvPr/>
        </p:nvSpPr>
        <p:spPr>
          <a:xfrm>
            <a:off x="4297679" y="4983480"/>
            <a:ext cx="3611880" cy="1097280"/>
          </a:xfrm>
          <a:prstGeom prst="roundRect">
            <a:avLst>
              <a:gd name="adj" fmla="val 6000"/>
            </a:avLst>
          </a:prstGeom>
          <a:solidFill>
            <a:srgbClr val="FFFFFF"/>
          </a:solidFill>
          <a:ln w="12700">
            <a:solidFill>
              <a:srgbClr val="CFE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59" y="5029200"/>
            <a:ext cx="3246120" cy="548640"/>
          </a:xfrm>
          <a:prstGeom prst="rect">
            <a:avLst/>
          </a:prstGeom>
          <a:noFill/>
        </p:spPr>
        <p:txBody>
          <a:bodyPr wrap="square" lIns="0" rIns="0" tIns="0" bIns="0" anchor="t">
            <a:spAutoFit/>
          </a:bodyPr>
          <a:lstStyle/>
          <a:p>
            <a:pPr algn="l">
              <a:spcAft>
                <a:spcPts val="600"/>
              </a:spcAft>
            </a:pPr>
            <a:r>
              <a:rPr sz="2600" b="1" i="0">
                <a:solidFill>
                  <a:srgbClr val="0F3D3E"/>
                </a:solidFill>
                <a:latin typeface="Cambria"/>
              </a:rPr>
              <a:t>d = 0.5</a:t>
            </a:r>
          </a:p>
        </p:txBody>
      </p:sp>
      <p:sp>
        <p:nvSpPr>
          <p:cNvPr id="11" name="TextBox 10"/>
          <p:cNvSpPr txBox="1"/>
          <p:nvPr/>
        </p:nvSpPr>
        <p:spPr>
          <a:xfrm>
            <a:off x="4480559" y="5577840"/>
            <a:ext cx="3246120" cy="457200"/>
          </a:xfrm>
          <a:prstGeom prst="rect">
            <a:avLst/>
          </a:prstGeom>
          <a:noFill/>
        </p:spPr>
        <p:txBody>
          <a:bodyPr wrap="square" lIns="0" rIns="0" tIns="0" bIns="0" anchor="t">
            <a:spAutoFit/>
          </a:bodyPr>
          <a:lstStyle/>
          <a:p>
            <a:pPr algn="l">
              <a:spcAft>
                <a:spcPts val="600"/>
              </a:spcAft>
            </a:pPr>
            <a:r>
              <a:rPr sz="1500" b="0" i="0">
                <a:solidFill>
                  <a:srgbClr val="5C6F6E"/>
                </a:solidFill>
                <a:latin typeface="Calibri"/>
              </a:rPr>
              <a:t>overlap ≈ 80%   (medium)</a:t>
            </a:r>
          </a:p>
        </p:txBody>
      </p:sp>
      <p:graphicFrame>
        <p:nvGraphicFramePr>
          <p:cNvPr id="12" name="Chart 11"/>
          <p:cNvGraphicFramePr>
            <a:graphicFrameLocks noGrp="1"/>
          </p:cNvGraphicFramePr>
          <p:nvPr/>
        </p:nvGraphicFramePr>
        <p:xfrm>
          <a:off x="8046719" y="1600200"/>
          <a:ext cx="3611880" cy="3291840"/>
        </p:xfrm>
        <a:graphic>
          <a:graphicData uri="http://schemas.openxmlformats.org/drawingml/2006/chart">
            <c:chart xmlns:c="http://schemas.openxmlformats.org/drawingml/2006/chart" r:id="rId5"/>
          </a:graphicData>
        </a:graphic>
      </p:graphicFrame>
      <p:sp>
        <p:nvSpPr>
          <p:cNvPr id="13" name="Rounded Rectangle 12"/>
          <p:cNvSpPr/>
          <p:nvPr/>
        </p:nvSpPr>
        <p:spPr>
          <a:xfrm>
            <a:off x="8046719" y="4983480"/>
            <a:ext cx="3611880" cy="1097280"/>
          </a:xfrm>
          <a:prstGeom prst="roundRect">
            <a:avLst>
              <a:gd name="adj" fmla="val 6000"/>
            </a:avLst>
          </a:prstGeom>
          <a:solidFill>
            <a:srgbClr val="FFFFFF"/>
          </a:solidFill>
          <a:ln w="12700">
            <a:solidFill>
              <a:srgbClr val="CFE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9" y="5029200"/>
            <a:ext cx="3246120" cy="548640"/>
          </a:xfrm>
          <a:prstGeom prst="rect">
            <a:avLst/>
          </a:prstGeom>
          <a:noFill/>
        </p:spPr>
        <p:txBody>
          <a:bodyPr wrap="square" lIns="0" rIns="0" tIns="0" bIns="0" anchor="t">
            <a:spAutoFit/>
          </a:bodyPr>
          <a:lstStyle/>
          <a:p>
            <a:pPr algn="l">
              <a:spcAft>
                <a:spcPts val="600"/>
              </a:spcAft>
            </a:pPr>
            <a:r>
              <a:rPr sz="2600" b="1" i="0">
                <a:solidFill>
                  <a:srgbClr val="0F3D3E"/>
                </a:solidFill>
                <a:latin typeface="Cambria"/>
              </a:rPr>
              <a:t>d = 0.8</a:t>
            </a:r>
          </a:p>
        </p:txBody>
      </p:sp>
      <p:sp>
        <p:nvSpPr>
          <p:cNvPr id="15" name="TextBox 14"/>
          <p:cNvSpPr txBox="1"/>
          <p:nvPr/>
        </p:nvSpPr>
        <p:spPr>
          <a:xfrm>
            <a:off x="8229599" y="5577840"/>
            <a:ext cx="3246120" cy="457200"/>
          </a:xfrm>
          <a:prstGeom prst="rect">
            <a:avLst/>
          </a:prstGeom>
          <a:noFill/>
        </p:spPr>
        <p:txBody>
          <a:bodyPr wrap="square" lIns="0" rIns="0" tIns="0" bIns="0" anchor="t">
            <a:spAutoFit/>
          </a:bodyPr>
          <a:lstStyle/>
          <a:p>
            <a:pPr algn="l">
              <a:spcAft>
                <a:spcPts val="600"/>
              </a:spcAft>
            </a:pPr>
            <a:r>
              <a:rPr sz="1500" b="0" i="0">
                <a:solidFill>
                  <a:srgbClr val="5C6F6E"/>
                </a:solidFill>
                <a:latin typeface="Calibri"/>
              </a:rPr>
              <a:t>overlap ≈ 69%   (large)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spcAft>
                <a:spcPts val="600"/>
              </a:spcAft>
            </a:pPr>
            <a:r>
              <a:rPr sz="1200" b="1" i="0">
                <a:solidFill>
                  <a:srgbClr val="1F7A78"/>
                </a:solidFill>
                <a:latin typeface="Calibri"/>
              </a:rPr>
              <a:t>WHITEBOARD 8 · ONE PAGE</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400" b="1" i="0">
                <a:solidFill>
                  <a:srgbClr val="0F3D3E"/>
                </a:solidFill>
                <a:latin typeface="Cambria"/>
              </a:rPr>
              <a:t>The whole class in six lines</a:t>
            </a:r>
          </a:p>
        </p:txBody>
      </p:sp>
      <p:graphicFrame>
        <p:nvGraphicFramePr>
          <p:cNvPr id="4" name="Table 3"/>
          <p:cNvGraphicFramePr>
            <a:graphicFrameLocks noGrp="1"/>
          </p:cNvGraphicFramePr>
          <p:nvPr/>
        </p:nvGraphicFramePr>
        <p:xfrm>
          <a:off x="548640" y="1645920"/>
          <a:ext cx="11091671" cy="4206240"/>
        </p:xfrm>
        <a:graphic>
          <a:graphicData uri="http://schemas.openxmlformats.org/drawingml/2006/table">
            <a:tbl>
              <a:tblPr firstRow="1" bandRow="1">
                <a:tableStyleId>{5C22544A-7EE6-4342-B048-85BDC9FD1C3A}</a:tableStyleId>
              </a:tblPr>
              <a:tblGrid>
                <a:gridCol w="3291840"/>
                <a:gridCol w="7799831"/>
              </a:tblGrid>
              <a:tr h="701040">
                <a:tc>
                  <a:txBody>
                    <a:bodyPr/>
                    <a:lstStyle/>
                    <a:p>
                      <a:r>
                        <a:rPr sz="1900" b="1">
                          <a:solidFill>
                            <a:srgbClr val="1F7A78"/>
                          </a:solidFill>
                          <a:latin typeface="Calibri"/>
                        </a:rPr>
                        <a:t>Population vs sample</a:t>
                      </a:r>
                    </a:p>
                  </a:txBody>
                  <a:tcPr>
                    <a:solidFill>
                      <a:srgbClr val="FFFFFF"/>
                    </a:solidFill>
                  </a:tcPr>
                </a:tc>
                <a:tc>
                  <a:txBody>
                    <a:bodyPr/>
                    <a:lstStyle/>
                    <a:p>
                      <a:r>
                        <a:rPr sz="1900" b="0">
                          <a:solidFill>
                            <a:srgbClr val="17302F"/>
                          </a:solidFill>
                          <a:latin typeface="Calibri"/>
                        </a:rPr>
                        <a:t>Circle inside a circle. μ is the big one, x̄ is the small one.</a:t>
                      </a:r>
                    </a:p>
                  </a:txBody>
                  <a:tcPr>
                    <a:solidFill>
                      <a:srgbClr val="FFFFFF"/>
                    </a:solidFill>
                  </a:tcPr>
                </a:tc>
              </a:tr>
              <a:tr h="701040">
                <a:tc>
                  <a:txBody>
                    <a:bodyPr/>
                    <a:lstStyle/>
                    <a:p>
                      <a:r>
                        <a:rPr sz="1900" b="1">
                          <a:solidFill>
                            <a:srgbClr val="1F7A78"/>
                          </a:solidFill>
                          <a:latin typeface="Calibri"/>
                        </a:rPr>
                        <a:t>Sampling</a:t>
                      </a:r>
                    </a:p>
                  </a:txBody>
                  <a:tcPr>
                    <a:solidFill>
                      <a:srgbClr val="EEF4F2"/>
                    </a:solidFill>
                  </a:tcPr>
                </a:tc>
                <a:tc>
                  <a:txBody>
                    <a:bodyPr/>
                    <a:lstStyle/>
                    <a:p>
                      <a:r>
                        <a:rPr sz="1900" b="0">
                          <a:solidFill>
                            <a:srgbClr val="17302F"/>
                          </a:solidFill>
                          <a:latin typeface="Calibri"/>
                        </a:rPr>
                        <a:t>Where the dots come from matters more than how many.</a:t>
                      </a:r>
                    </a:p>
                  </a:txBody>
                  <a:tcPr>
                    <a:solidFill>
                      <a:srgbClr val="EEF4F2"/>
                    </a:solidFill>
                  </a:tcPr>
                </a:tc>
              </a:tr>
              <a:tr h="701040">
                <a:tc>
                  <a:txBody>
                    <a:bodyPr/>
                    <a:lstStyle/>
                    <a:p>
                      <a:r>
                        <a:rPr sz="1900" b="1">
                          <a:solidFill>
                            <a:srgbClr val="1F7A78"/>
                          </a:solidFill>
                          <a:latin typeface="Calibri"/>
                        </a:rPr>
                        <a:t>Sampling distribution</a:t>
                      </a:r>
                    </a:p>
                  </a:txBody>
                  <a:tcPr>
                    <a:solidFill>
                      <a:srgbClr val="FFFFFF"/>
                    </a:solidFill>
                  </a:tcPr>
                </a:tc>
                <a:tc>
                  <a:txBody>
                    <a:bodyPr/>
                    <a:lstStyle/>
                    <a:p>
                      <a:r>
                        <a:rPr sz="1900" b="0">
                          <a:solidFill>
                            <a:srgbClr val="17302F"/>
                          </a:solidFill>
                          <a:latin typeface="Calibri"/>
                        </a:rPr>
                        <a:t>Averages bunch: SE = σ / √n.</a:t>
                      </a:r>
                    </a:p>
                  </a:txBody>
                  <a:tcPr>
                    <a:solidFill>
                      <a:srgbClr val="FFFFFF"/>
                    </a:solidFill>
                  </a:tcPr>
                </a:tc>
              </a:tr>
              <a:tr h="701040">
                <a:tc>
                  <a:txBody>
                    <a:bodyPr/>
                    <a:lstStyle/>
                    <a:p>
                      <a:r>
                        <a:rPr sz="1900" b="1">
                          <a:solidFill>
                            <a:srgbClr val="1F7A78"/>
                          </a:solidFill>
                          <a:latin typeface="Calibri"/>
                        </a:rPr>
                        <a:t>Confidence interval</a:t>
                      </a:r>
                    </a:p>
                  </a:txBody>
                  <a:tcPr>
                    <a:solidFill>
                      <a:srgbClr val="EEF4F2"/>
                    </a:solidFill>
                  </a:tcPr>
                </a:tc>
                <a:tc>
                  <a:txBody>
                    <a:bodyPr/>
                    <a:lstStyle/>
                    <a:p>
                      <a:r>
                        <a:rPr sz="1900" b="0">
                          <a:solidFill>
                            <a:srgbClr val="17302F"/>
                          </a:solidFill>
                          <a:latin typeface="Calibri"/>
                        </a:rPr>
                        <a:t>x̄ ± t*·SE: a net that catches μ about 95% of the time.</a:t>
                      </a:r>
                    </a:p>
                  </a:txBody>
                  <a:tcPr>
                    <a:solidFill>
                      <a:srgbClr val="EEF4F2"/>
                    </a:solidFill>
                  </a:tcPr>
                </a:tc>
              </a:tr>
              <a:tr h="701040">
                <a:tc>
                  <a:txBody>
                    <a:bodyPr/>
                    <a:lstStyle/>
                    <a:p>
                      <a:r>
                        <a:rPr sz="1900" b="1">
                          <a:solidFill>
                            <a:srgbClr val="1F7A78"/>
                          </a:solidFill>
                          <a:latin typeface="Calibri"/>
                        </a:rPr>
                        <a:t>p-value</a:t>
                      </a:r>
                    </a:p>
                  </a:txBody>
                  <a:tcPr>
                    <a:solidFill>
                      <a:srgbClr val="FFFFFF"/>
                    </a:solidFill>
                  </a:tcPr>
                </a:tc>
                <a:tc>
                  <a:txBody>
                    <a:bodyPr/>
                    <a:lstStyle/>
                    <a:p>
                      <a:r>
                        <a:rPr sz="1900" b="0">
                          <a:solidFill>
                            <a:srgbClr val="17302F"/>
                          </a:solidFill>
                          <a:latin typeface="Calibri"/>
                        </a:rPr>
                        <a:t>The tail area: how surprising is our result if nothing is going on.</a:t>
                      </a:r>
                    </a:p>
                  </a:txBody>
                  <a:tcPr>
                    <a:solidFill>
                      <a:srgbClr val="FFFFFF"/>
                    </a:solidFill>
                  </a:tcPr>
                </a:tc>
              </a:tr>
              <a:tr h="701040">
                <a:tc>
                  <a:txBody>
                    <a:bodyPr/>
                    <a:lstStyle/>
                    <a:p>
                      <a:r>
                        <a:rPr sz="1900" b="1">
                          <a:solidFill>
                            <a:srgbClr val="1F7A78"/>
                          </a:solidFill>
                          <a:latin typeface="Calibri"/>
                        </a:rPr>
                        <a:t>Effect size</a:t>
                      </a:r>
                    </a:p>
                  </a:txBody>
                  <a:tcPr>
                    <a:solidFill>
                      <a:srgbClr val="EEF4F2"/>
                    </a:solidFill>
                  </a:tcPr>
                </a:tc>
                <a:tc>
                  <a:txBody>
                    <a:bodyPr/>
                    <a:lstStyle/>
                    <a:p>
                      <a:r>
                        <a:rPr sz="1900" b="0">
                          <a:solidFill>
                            <a:srgbClr val="17302F"/>
                          </a:solidFill>
                          <a:latin typeface="Calibri"/>
                        </a:rPr>
                        <a:t>How far apart the bells are: d = (x̄₁ − x̄₂) / s.</a:t>
                      </a:r>
                    </a:p>
                  </a:txBody>
                  <a:tcPr>
                    <a:solidFill>
                      <a:srgbClr val="EEF4F2"/>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