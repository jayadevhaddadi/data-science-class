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 of heads</c:v>
                </c:pt>
              </c:strCache>
            </c:strRef>
          </c:tx>
          <c:spPr>
            <a:ln w="38100">
              <a:solidFill>
                <a:srgbClr val="1F7A78"/>
              </a:solidFill>
            </a:ln>
          </c:spPr>
          <c:cat>
            <c:strRef>
              <c:f>Sheet1!$A$2:$A$10</c:f>
              <c:strCache>
                <c:ptCount val="9"/>
                <c:pt idx="0">
                  <c:v>10</c:v>
                </c:pt>
                <c:pt idx="1">
                  <c:v>20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  <c:pt idx="5">
                  <c:v>500</c:v>
                </c:pt>
                <c:pt idx="6">
                  <c:v>1000</c:v>
                </c:pt>
                <c:pt idx="7">
                  <c:v>2000</c:v>
                </c:pt>
                <c:pt idx="8">
                  <c:v>5000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0.4</c:v>
                </c:pt>
                <c:pt idx="2">
                  <c:v>0.32</c:v>
                </c:pt>
                <c:pt idx="3">
                  <c:v>0.36</c:v>
                </c:pt>
                <c:pt idx="4">
                  <c:v>0.465</c:v>
                </c:pt>
                <c:pt idx="5">
                  <c:v>0.482</c:v>
                </c:pt>
                <c:pt idx="6">
                  <c:v>0.491</c:v>
                </c:pt>
                <c:pt idx="7">
                  <c:v>0.482</c:v>
                </c:pt>
                <c:pt idx="8">
                  <c:v>0.508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number of coin flips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8"/>
          <c:min val="0.2"/>
        </c:scaling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proportion of heads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7A78"/>
            </a:solidFill>
          </c:spPr>
          <c:cat>
            <c:strRef>
              <c:f>Sheet1!$A$2:$A$12</c:f>
              <c:strCache>
                <c:ptCount val="11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0F3D3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total of two dice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ways out of 36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7A78"/>
            </a:solidFill>
          </c:spPr>
          <c:cat>
            <c:strRef>
              <c:f>Sheet1!$A$2:$A$7</c:f>
              <c:strCache>
                <c:ptCount val="6"/>
                <c:pt idx="0">
                  <c:v>1%</c:v>
                </c:pt>
                <c:pt idx="1">
                  <c:v>2%</c:v>
                </c:pt>
                <c:pt idx="2">
                  <c:v>5%</c:v>
                </c:pt>
                <c:pt idx="3">
                  <c:v>10%</c:v>
                </c:pt>
                <c:pt idx="4">
                  <c:v>20%</c:v>
                </c:pt>
                <c:pt idx="5">
                  <c:v>50%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16.1</c:v>
                </c:pt>
                <c:pt idx="1">
                  <c:v>27.9</c:v>
                </c:pt>
                <c:pt idx="2">
                  <c:v>50.0</c:v>
                </c:pt>
                <c:pt idx="3">
                  <c:v>67.9</c:v>
                </c:pt>
                <c:pt idx="4">
                  <c:v>82.6</c:v>
                </c:pt>
                <c:pt idx="5">
                  <c:v>95.0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0F3D3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how common the disease is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P(sick | positive test), 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7A78"/>
            </a:solidFill>
          </c:spPr>
          <c:cat>
            <c:strRef>
              <c:f>Sheet1!$A$2:$A$4</c:f>
              <c:strCache>
                <c:ptCount val="3"/>
                <c:pt idx="0">
                  <c:v>1 day</c:v>
                </c:pt>
                <c:pt idx="1">
                  <c:v>2 days</c:v>
                </c:pt>
                <c:pt idx="2">
                  <c:v>3 days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0F3D3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X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P(X = x)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7A78"/>
            </a:solidFill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0.028</c:v>
                </c:pt>
                <c:pt idx="1">
                  <c:v>0.121</c:v>
                </c:pt>
                <c:pt idx="2">
                  <c:v>0.233</c:v>
                </c:pt>
                <c:pt idx="3">
                  <c:v>0.267</c:v>
                </c:pt>
                <c:pt idx="4">
                  <c:v>0.2</c:v>
                </c:pt>
                <c:pt idx="5">
                  <c:v>0.103</c:v>
                </c:pt>
                <c:pt idx="6">
                  <c:v>0.037</c:v>
                </c:pt>
                <c:pt idx="7">
                  <c:v>0.009</c:v>
                </c:pt>
                <c:pt idx="8">
                  <c:v>0.001</c:v>
                </c:pt>
                <c:pt idx="9">
                  <c:v>0.0</c:v>
                </c:pt>
                <c:pt idx="10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0F3D3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customers who buy (out of 10, p = 0.3)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P(X = 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D98A1F"/>
            </a:solidFill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0.05</c:v>
                </c:pt>
                <c:pt idx="1">
                  <c:v>0.149</c:v>
                </c:pt>
                <c:pt idx="2">
                  <c:v>0.224</c:v>
                </c:pt>
                <c:pt idx="3">
                  <c:v>0.224</c:v>
                </c:pt>
                <c:pt idx="4">
                  <c:v>0.168</c:v>
                </c:pt>
                <c:pt idx="5">
                  <c:v>0.101</c:v>
                </c:pt>
                <c:pt idx="6">
                  <c:v>0.05</c:v>
                </c:pt>
                <c:pt idx="7">
                  <c:v>0.022</c:v>
                </c:pt>
                <c:pt idx="8">
                  <c:v>0.008</c:v>
                </c:pt>
                <c:pt idx="9">
                  <c:v>0.003</c:v>
                </c:pt>
                <c:pt idx="10">
                  <c:v>0.001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0F3D3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emails in one hour (λ = 3)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P(X = 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</c:v>
                </c:pt>
              </c:strCache>
            </c:strRef>
          </c:tx>
          <c:spPr>
            <a:solidFill>
              <a:srgbClr val="1F7A78"/>
            </a:solidFill>
          </c:spPr>
          <c:cat>
            <c:strRef>
              <c:f>Sheet1!$A$2:$A$26</c:f>
              <c:strCache>
                <c:ptCount val="25"/>
                <c:pt idx="0">
                  <c:v>146</c:v>
                </c:pt>
                <c:pt idx="1">
                  <c:v>148</c:v>
                </c:pt>
                <c:pt idx="2">
                  <c:v>150</c:v>
                </c:pt>
                <c:pt idx="3">
                  <c:v>152</c:v>
                </c:pt>
                <c:pt idx="4">
                  <c:v>154</c:v>
                </c:pt>
                <c:pt idx="5">
                  <c:v>156</c:v>
                </c:pt>
                <c:pt idx="6">
                  <c:v>158</c:v>
                </c:pt>
                <c:pt idx="7">
                  <c:v>160</c:v>
                </c:pt>
                <c:pt idx="8">
                  <c:v>162</c:v>
                </c:pt>
                <c:pt idx="9">
                  <c:v>164</c:v>
                </c:pt>
                <c:pt idx="10">
                  <c:v>166</c:v>
                </c:pt>
                <c:pt idx="11">
                  <c:v>168</c:v>
                </c:pt>
                <c:pt idx="12">
                  <c:v>170</c:v>
                </c:pt>
                <c:pt idx="13">
                  <c:v>172</c:v>
                </c:pt>
                <c:pt idx="14">
                  <c:v>174</c:v>
                </c:pt>
                <c:pt idx="15">
                  <c:v>176</c:v>
                </c:pt>
                <c:pt idx="16">
                  <c:v>178</c:v>
                </c:pt>
                <c:pt idx="17">
                  <c:v>180</c:v>
                </c:pt>
                <c:pt idx="18">
                  <c:v>182</c:v>
                </c:pt>
                <c:pt idx="19">
                  <c:v>184</c:v>
                </c:pt>
                <c:pt idx="20">
                  <c:v>186</c:v>
                </c:pt>
                <c:pt idx="21">
                  <c:v>188</c:v>
                </c:pt>
                <c:pt idx="22">
                  <c:v>190</c:v>
                </c:pt>
                <c:pt idx="23">
                  <c:v>192</c:v>
                </c:pt>
                <c:pt idx="24">
                  <c:v>194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0.0006</c:v>
                </c:pt>
                <c:pt idx="1">
                  <c:v>0.0011</c:v>
                </c:pt>
                <c:pt idx="2">
                  <c:v>0.0022</c:v>
                </c:pt>
                <c:pt idx="3">
                  <c:v>0.004</c:v>
                </c:pt>
                <c:pt idx="4">
                  <c:v>0.0067</c:v>
                </c:pt>
                <c:pt idx="5">
                  <c:v>0.0108</c:v>
                </c:pt>
                <c:pt idx="6">
                  <c:v>0.0162</c:v>
                </c:pt>
                <c:pt idx="7">
                  <c:v>0.0228</c:v>
                </c:pt>
                <c:pt idx="8">
                  <c:v>0.0302</c:v>
                </c:pt>
                <c:pt idx="9">
                  <c:v>0.0376</c:v>
                </c:pt>
                <c:pt idx="10">
                  <c:v>0.044</c:v>
                </c:pt>
                <c:pt idx="11">
                  <c:v>0.0483</c:v>
                </c:pt>
                <c:pt idx="12">
                  <c:v>0.0499</c:v>
                </c:pt>
                <c:pt idx="13">
                  <c:v>0.0483</c:v>
                </c:pt>
                <c:pt idx="14">
                  <c:v>0.044</c:v>
                </c:pt>
                <c:pt idx="15">
                  <c:v>0.0376</c:v>
                </c:pt>
                <c:pt idx="16">
                  <c:v>0.0302</c:v>
                </c:pt>
                <c:pt idx="17">
                  <c:v>0.0228</c:v>
                </c:pt>
                <c:pt idx="18">
                  <c:v>0.0162</c:v>
                </c:pt>
                <c:pt idx="19">
                  <c:v>0.0108</c:v>
                </c:pt>
                <c:pt idx="20">
                  <c:v>0.0067</c:v>
                </c:pt>
                <c:pt idx="21">
                  <c:v>0.004</c:v>
                </c:pt>
                <c:pt idx="22">
                  <c:v>0.0022</c:v>
                </c:pt>
                <c:pt idx="23">
                  <c:v>0.0011</c:v>
                </c:pt>
                <c:pt idx="24">
                  <c:v>0.0006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height (cm), mean 170, SD 8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density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1F7A78"/>
            </a:solidFill>
          </c:spPr>
          <c:cat>
            <c:strRef>
              <c:f>Sheet1!$A$2:$A$29</c:f>
              <c:strCache>
                <c:ptCount val="28"/>
                <c:pt idx="0">
                  <c:v>0.43</c:v>
                </c:pt>
                <c:pt idx="1">
                  <c:v>0.47</c:v>
                </c:pt>
                <c:pt idx="2">
                  <c:v>0.53</c:v>
                </c:pt>
                <c:pt idx="3">
                  <c:v>0.57</c:v>
                </c:pt>
                <c:pt idx="4">
                  <c:v>0.62</c:v>
                </c:pt>
                <c:pt idx="5">
                  <c:v>0.67</c:v>
                </c:pt>
                <c:pt idx="6">
                  <c:v>0.72</c:v>
                </c:pt>
                <c:pt idx="7">
                  <c:v>0.77</c:v>
                </c:pt>
                <c:pt idx="8">
                  <c:v>0.82</c:v>
                </c:pt>
                <c:pt idx="9">
                  <c:v>0.87</c:v>
                </c:pt>
                <c:pt idx="10">
                  <c:v>0.92</c:v>
                </c:pt>
                <c:pt idx="11">
                  <c:v>0.97</c:v>
                </c:pt>
                <c:pt idx="12">
                  <c:v>1.02</c:v>
                </c:pt>
                <c:pt idx="13">
                  <c:v>1.07</c:v>
                </c:pt>
                <c:pt idx="14">
                  <c:v>1.12</c:v>
                </c:pt>
                <c:pt idx="15">
                  <c:v>1.17</c:v>
                </c:pt>
                <c:pt idx="16">
                  <c:v>1.22</c:v>
                </c:pt>
                <c:pt idx="17">
                  <c:v>1.27</c:v>
                </c:pt>
                <c:pt idx="18">
                  <c:v>1.32</c:v>
                </c:pt>
                <c:pt idx="19">
                  <c:v>1.37</c:v>
                </c:pt>
                <c:pt idx="20">
                  <c:v>1.42</c:v>
                </c:pt>
                <c:pt idx="21">
                  <c:v>1.47</c:v>
                </c:pt>
                <c:pt idx="22">
                  <c:v>1.52</c:v>
                </c:pt>
                <c:pt idx="23">
                  <c:v>1.57</c:v>
                </c:pt>
                <c:pt idx="24">
                  <c:v>1.62</c:v>
                </c:pt>
                <c:pt idx="25">
                  <c:v>1.67</c:v>
                </c:pt>
                <c:pt idx="26">
                  <c:v>1.72</c:v>
                </c:pt>
                <c:pt idx="27">
                  <c:v>1.77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</c:v>
                </c:pt>
                <c:pt idx="1">
                  <c:v>5</c:v>
                </c:pt>
                <c:pt idx="2">
                  <c:v>29</c:v>
                </c:pt>
                <c:pt idx="3">
                  <c:v>91</c:v>
                </c:pt>
                <c:pt idx="4">
                  <c:v>201</c:v>
                </c:pt>
                <c:pt idx="5">
                  <c:v>407</c:v>
                </c:pt>
                <c:pt idx="6">
                  <c:v>736</c:v>
                </c:pt>
                <c:pt idx="7">
                  <c:v>1173</c:v>
                </c:pt>
                <c:pt idx="8">
                  <c:v>1569</c:v>
                </c:pt>
                <c:pt idx="9">
                  <c:v>1932</c:v>
                </c:pt>
                <c:pt idx="10">
                  <c:v>2147</c:v>
                </c:pt>
                <c:pt idx="11">
                  <c:v>2195</c:v>
                </c:pt>
                <c:pt idx="12">
                  <c:v>2085</c:v>
                </c:pt>
                <c:pt idx="13">
                  <c:v>1884</c:v>
                </c:pt>
                <c:pt idx="14">
                  <c:v>1508</c:v>
                </c:pt>
                <c:pt idx="15">
                  <c:v>1233</c:v>
                </c:pt>
                <c:pt idx="16">
                  <c:v>943</c:v>
                </c:pt>
                <c:pt idx="17">
                  <c:v>664</c:v>
                </c:pt>
                <c:pt idx="18">
                  <c:v>448</c:v>
                </c:pt>
                <c:pt idx="19">
                  <c:v>304</c:v>
                </c:pt>
                <c:pt idx="20">
                  <c:v>164</c:v>
                </c:pt>
                <c:pt idx="21">
                  <c:v>135</c:v>
                </c:pt>
                <c:pt idx="22">
                  <c:v>58</c:v>
                </c:pt>
                <c:pt idx="23">
                  <c:v>48</c:v>
                </c:pt>
                <c:pt idx="24">
                  <c:v>18</c:v>
                </c:pt>
                <c:pt idx="25">
                  <c:v>10</c:v>
                </c:pt>
                <c:pt idx="26">
                  <c:v>6</c:v>
                </c:pt>
                <c:pt idx="27">
                  <c:v>4</c:v>
                </c:pt>
              </c:numCache>
            </c:numRef>
          </c:val>
        </c:ser>
        <c:gapWidth val="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average of 30 draws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how many of 20,000 averages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(~95 min of content; the deck is built so you can cut cleanly):</a:t>
            </a:r>
          </a:p>
          <a:p>
            <a:r>
              <a:t>Slides 2-4 probability basics (12 min) | 5-7 conditional &amp; independence (15 min) | 8-10 Bayes (18 min) | 11-12 random variables (10 min) | 13-17 distributions &amp; CLT (20 min) | 18-19 mistakes + hand-off (5 min).</a:t>
            </a:r>
          </a:p>
          <a:p/>
          <a:p>
            <a:r>
              <a:t>MUST TEACH if time is tight: 5, 6 (conditional), 8 (Bayes by counting), 11 (E[X]), 13/14/15 (one slide each for the three distributions). CAN CUT or just mention: 4 (addition rule), 10 (updating twice), 12 (transformations), 16 (CLT), 17 (cheat-sheet).</a:t>
            </a:r>
          </a:p>
          <a:p/>
          <a:p>
            <a:r>
              <a:t>Each slide has a PREDICT question in the notes: ask it BEFORE you reveal the answer. Companion notebooks: 01_INSTRUCTOR_concepts.ipynb for live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probability is the language of uncertainty. Everything later (inference, machine learning) is built on these six ideas.</a:t>
            </a:r>
          </a:p>
          <a:p>
            <a:r>
              <a:t>SAY: 'Today we know the rules of the game and ask what data to expect. Next class we run it backwards: we see the data and ask what the rules were.'</a:t>
            </a:r>
          </a:p>
          <a:p>
            <a:r>
              <a:t>ASK: 'Name one decision you made this week under uncertainty.' (Weather, exam, traffic.) Take two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MEANINGS: classical = favourable / all equally likely outcomes (a fair die: 1/6). Frequentist = long-run proportion.</a:t>
            </a:r>
          </a:p>
          <a:p>
            <a:r>
              <a:t>CHART: one simulated run of coin flips. After 10 flips the proportion was 0.50; after 5,000 flips 0.508. It wobbles then settles near 0.5. That is the Law of Large Numbers.</a:t>
            </a:r>
          </a:p>
          <a:p>
            <a:r>
              <a:t>PREDICT first: 'After 10 flips will the proportion of heads be exactly 0.5? After 5,000?' Then show the chart.</a:t>
            </a:r>
          </a:p>
          <a:p>
            <a:r>
              <a:t>WARNING: gambler's fallacy. A coin that just landed heads five times is NOT due for tails. The law is about proportions in the long run, not about 'making up' for the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 SPACE: list every equally likely outcome. Two dice: 36. The total 7 has 6 ways, totals 2 and 12 have 1 way each, which is why the middle is tallest.</a:t>
            </a:r>
          </a:p>
          <a:p>
            <a:r>
              <a:t>ADDITION RULE: P(A or B) = P(A) + P(B) - P(A and B). We subtract the overlap because (6,4), (6,5), (6,6) are in BOTH events and would be counted twice.</a:t>
            </a:r>
          </a:p>
          <a:p>
            <a:r>
              <a:t>EXAMPLE: A = first die is 6 (6/36), B = total at least 10 (6/36), overlap 3/36. So P(A or B) = 6/36 + 6/36 - 3/36 = 9/36 = 0.25.</a:t>
            </a:r>
          </a:p>
          <a:p>
            <a:r>
              <a:t>PREDICT: 'What is the most likely total of two dice? How many ways?'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conditioning = shrinking the world to the cases where B happened, then asking how many of those also have A.</a:t>
            </a:r>
          </a:p>
          <a:p>
            <a:r>
              <a:t>TABLE: 400 students. 150 joined a study group (120 passed, 30 failed); 250 did not (150 passed, 100 failed). Overall pass rate 270/400 = 0.675.</a:t>
            </a:r>
          </a:p>
          <a:p>
            <a:r>
              <a:t>PREDICT: 'Among study-group students, is the pass rate higher, lower or the same as 0.675?' Then compute 120/150 = 0.80.</a:t>
            </a:r>
          </a:p>
          <a:p>
            <a:r>
              <a:t>CAUTION: this is association, not proof that study groups cause passing (callback to Class 03: confounding).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PROBABILITY MISTAKE: confusing P(A|B) with P(B|A).</a:t>
            </a:r>
          </a:p>
          <a:p>
            <a:r>
              <a:t>From the same table: 80% of study-group students pass, BUT only 44% (120/270) of passing students were in a study group. Different questions, different denominators.</a:t>
            </a:r>
          </a:p>
          <a:p>
            <a:r>
              <a:t>REAL EXAMPLES: 'Most car accidents happen near home' (P(near home | accident) is high) does not mean 'home is dangerous' (P(accident | near home) is tiny, because we spend most time near home). 'Most successful founders dropped out' vs 'most dropouts become founders'.</a:t>
            </a:r>
          </a:p>
          <a:p>
            <a:r>
              <a:t>This is exactly the trap in the Bayes medical-test puzzle on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DEFINITION: A and B independent if P(A and B) = P(A) x P(B), equivalently P(A|B) = P(A): learning B tells you nothing about A.</a:t>
            </a:r>
          </a:p>
          <a:p>
            <a:r>
              <a:t>DICE CHECK: A = first die even (1/2), B = total is 7 (1/6). P(A)P(B) = 1/12. P(A and B) = 3/36 = 1/12. Equal, so independent. Surprising: whatever the first die shows, exactly one value of the second die makes 7.</a:t>
            </a:r>
          </a:p>
          <a:p>
            <a:r>
              <a:t>CARDS: P(2nd ace | 1st ace) = 4/52 = 0.077 with replacement (independent), 3/51 = 0.059 without (dependent: the deck changed).</a:t>
            </a:r>
          </a:p>
          <a:p>
            <a:r>
              <a:t>KEY TRAP: mutually exclusive is NOT independent. If A and B cannot both happen, then knowing A happened tells you B did not: strong dependence.</a:t>
            </a:r>
          </a:p>
          <a:p>
            <a:r>
              <a:t>PREDICT: 'Are "first die is 1" and "first die is 6" independent?' (No: exclusive, so dependent.)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PUZZLE: 1% of people have a disease. The test is positive for 95% of sick people and 5% of healthy people. You test positive. How likely are you sick?</a:t>
            </a:r>
          </a:p>
          <a:p>
            <a:r>
              <a:t>PREDICT BEFORE THIS SLIDE: get a gut number in chat (95%? 80%? 50%? 16%?). Most say 95%. Keep the votes.</a:t>
            </a:r>
          </a:p>
          <a:p>
            <a:r>
              <a:t>COUNT 10,000 people: 100 sick, 9,900 healthy. Sick and positive: 0.95 x 100 = 95. Healthy and positive (false alarms): 0.05 x 9,900 = 495. All positives = 590. Of those, 95 are sick: 95/590 = 16.1%.</a:t>
            </a:r>
          </a:p>
          <a:p>
            <a:r>
              <a:t>WHY: the healthy group is 99 times bigger, so even a small false-alarm rate produces far more false alarms than there are real cases. IGNORING THE BASE RATE is the number one Bayes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FORMULA: P(sick | +) = P(+ | sick) P(sick) / P(+), where P(+) = P(+|sick)P(sick) + P(+|healthy)P(healthy) = 0.95x0.01 + 0.05x0.99 = 0.059.</a:t>
            </a:r>
          </a:p>
          <a:p>
            <a:r>
              <a:t>So the posterior = 0.0095 / 0.059 = 0.161. Same answer as counting: the formula is just the counting argument written as fractions.</a:t>
            </a:r>
          </a:p>
          <a:p>
            <a:r>
              <a:t>THE CHART: same test, different base rates. At 1% prevalence a positive means 16%; at 10% it means 68%; at 50% it means 95%. The test did not change, the prior did.</a:t>
            </a:r>
          </a:p>
          <a:p>
            <a:r>
              <a:t>RECIPE: (1) write the prior, (2) the likelihoods, (3) total probability of the evidence, (4) divide.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UPDATING: yesterday's posterior becomes today's prior. After one positive: 16.1%. After a second INDEPENDENT positive test: 78.5%.</a:t>
            </a:r>
          </a:p>
          <a:p>
            <a:r>
              <a:t>This is how spam filters, medical diagnosis and many ML models work: every new piece of evidence nudges the belief.</a:t>
            </a:r>
          </a:p>
          <a:p>
            <a:r>
              <a:t>LINK: the student AI tasks include a spam-filter (naive Bayes) problem. Naive Bayes assumes the words are independent given the class: that is where independence comes back.</a:t>
            </a:r>
          </a:p>
          <a:p>
            <a:r>
              <a:t>ASK: 'Why must the second test be independent of the first?' (Otherwise the same error repeats and you double-count the evidence.)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RANDOM VARIABLE turns outcomes into numbers. X = number of days a delivery takes. pmf = list of P(X = x).</a:t>
            </a:r>
          </a:p>
          <a:p>
            <a:r>
              <a:t>E[X] = sum of x * P(x) = 1(0.5) + 2(0.3) + 3(0.2) = 1.7. This is the long-run average, a weighted average, NOT the most likely value (that is 1 day) and not a value you must be able to see (1.7 days never happens).</a:t>
            </a:r>
          </a:p>
          <a:p>
            <a:r>
              <a:t>Var(X) = sum of (x - E[X])^2 P(x) = 0.61; SD = 0.78 days. SD is the typical distance from the mean, in the original units.</a:t>
            </a:r>
          </a:p>
          <a:p>
            <a:r>
              <a:t>PREDICT: 'If you order 1,000 items, about how many total delivery days?' (1,700.)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RULES: E[aX + b] = a E[X] + b: the mean moves and scales. Var(aX + b) = a^2 Var(X): the spread scales by a squared; adding a constant b does not change the spread.</a:t>
            </a:r>
          </a:p>
          <a:p>
            <a:r>
              <a:t>EXAMPLE: delivery cost = 5 + 2X dollars. E = 5 + 2(1.7) = 8.4. Var = 4 x 0.61 = 2.44.</a:t>
            </a:r>
          </a:p>
          <a:p>
            <a:r>
              <a:t>These rules are what the casino-game student task needs: winnings are a function of the die roll.</a:t>
            </a:r>
          </a:p>
          <a:p>
            <a:r>
              <a:t>LONG-RUN: running average of many trials heads to E[X] (Law of Large Numbers again). One day can be anything; 1,000 days are 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BINOMIAL: n independent yes/no trials, each with the same success probability p; X = number of successes. Example: 10 customers, each buys with p = 0.3.</a:t>
            </a:r>
          </a:p>
          <a:p>
            <a:r>
              <a:t>The bar at k is P(X = k). Tallest at 3 (= n p). Mean n p = 3, SD = sqrt(n p (1-p)) = 1.45.</a:t>
            </a:r>
          </a:p>
          <a:p>
            <a:r>
              <a:t>THE CDF TRAP: cdf(k) = P(X &lt;= k). 'At least 5' = P(X &gt;= 5) = 1 - cdf(4) = 0.150. NOT 1 - cdf(5). This off-by-one is the classic AI mistake from the AI demo.</a:t>
            </a:r>
          </a:p>
          <a:p>
            <a:r>
              <a:t>ASK: 'Which bars do I add for "at most 2"?' (0, 1, 2 = cdf(2).)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POISSON: events at random times at a steady average rate lambda; X = how many happen in a fixed window (emails per hour, calls per minute).</a:t>
            </a:r>
          </a:p>
          <a:p>
            <a:r>
              <a:t>lambda = 3 here. Bar heights: P(0) = 0.050 = e^-3. Right tail is longer than the left since counts cannot go below 0.</a:t>
            </a:r>
          </a:p>
          <a:p>
            <a:r>
              <a:t>SIGNATURE: mean = variance = lambda. If real count data has variance far from its mean, Poisson is probably wrong.</a:t>
            </a:r>
          </a:p>
          <a:p>
            <a:r>
              <a:t>BINOMIAL vs POISSON: Binomial has a fixed n and a maximum; Poisson has no maximum and no n.</a:t>
            </a:r>
          </a:p>
          <a:p>
            <a:r>
              <a:t>ASK: 'Calls per minute: Binomial or Poisson?' (Poisson.) 'Heads in 10 flips?' (Binomial.)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NORMAL: continuous, symmetric bell, described by mean mu and SD sigma. Probability = AREA under the curve; P(X = exactly 170.00) is 0, so we always ask about ranges.</a:t>
            </a:r>
          </a:p>
          <a:p>
            <a:r>
              <a:t>68-95-99.7: about 68% within 1 SD (162-178), 95% within 2 (154-186), 99.7% within 3.</a:t>
            </a:r>
          </a:p>
          <a:p>
            <a:r>
              <a:t>Z-SCORE: z = (x - mu)/sigma = (185 - 170)/8 = 1.88. P(height &gt; 185) = 1 - cdf = 0.030, about 3%.</a:t>
            </a:r>
          </a:p>
          <a:p>
            <a:r>
              <a:t>PPF is the inverse of cdf: ppf(0.95) = 183.2 cm: the tallest 5% are taller than this.</a:t>
            </a:r>
          </a:p>
          <a:p>
            <a:r>
              <a:t>COMMON BUG: scipy.stats.norm takes the standard deviation, not the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CENTRAL LIMIT THEOREM: the AVERAGE of many independent draws is approximately Normal, even when the individual draws are not.</a:t>
            </a:r>
          </a:p>
          <a:p>
            <a:r>
              <a:t>CHART: 20,000 averages, each the mean of 30 draws from a strongly skewed Exponential distribution (mean 1, SD 1). The histogram is a bell centred on 1.</a:t>
            </a:r>
          </a:p>
          <a:p>
            <a:r>
              <a:t>THE SD of an average of n draws is sigma/sqrt(n) = 1/sqrt(30) = 0.18: narrower than one draw. This is the 'use 2, not 10, for the average of 25 students' trap in the student tasks.</a:t>
            </a:r>
          </a:p>
          <a:p>
            <a:r>
              <a:t>WHY: averaging cancels ups and downs; there are many more ways to land in the middle than at the extremes (see the dice demo in the notebook).</a:t>
            </a:r>
          </a:p>
          <a:p>
            <a:r>
              <a:t>THIS is the bridge to Class 05: sampling distributions and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TOOL: read each row, ask 'which example is this?'. Quick quiz: heights of adults? (Normal) goals in a match? (Poisson) number of correct answers when guessing 10 quiz questions? (Binomial) average of 30 exam scores? (Normal by CLT).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a checklist: ask the class for an example of two of these. Each maps to a slide: 1 -&gt; slide 6, 2 -&gt; slide 7, 3 -&gt; slide 8, 4 -&gt; slide 13, 5 -&gt;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HAND-OFF: use the student notebooks next. 03_STUDENT_ai_tasks.ipynb (3 tasks to solve with AI, verification mandatory) and 04_STUDENT_group_presentations.ipynb (5 groups x 5 min).</a:t>
            </a:r>
          </a:p>
          <a:p>
            <a:r>
              <a:t>THE AI WORKFLOW: Understand, Prompt, Run, Verify, Reflect. The verify step (simulation) is what you are grading.</a:t>
            </a:r>
          </a:p>
          <a:p>
            <a:r>
              <a:t>Questions to ask the groups are in 04_INSTRUCTOR_group_presentations.ipynb.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A541"/>
                </a:solidFill>
                <a:latin typeface="Calibri"/>
              </a:rPr>
              <a:t>DATA SCIENCE · CLASS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Probability
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FE5E1"/>
                </a:solidFill>
                <a:latin typeface="Calibri"/>
              </a:rPr>
              <a:t>Concepts · conditional probability · independence · Bayes' theorem · random variables · distributions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99831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01583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03336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05088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06840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08592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10344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12096" y="13716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13848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17352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19104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20855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79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99831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01583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3336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05088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06840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8592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10344" y="1828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12096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13848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0" y="1828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17352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19104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20855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98079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99831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01583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03336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05088" y="2286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06840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08592" y="2286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10344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12096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3848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15600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817352" y="2286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119104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420855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98079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99831" y="2743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01583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03336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05088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06840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08592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10344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12096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13848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15600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817352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119104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420855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498079" y="32004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799831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1583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03336" y="32004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705088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006840" y="32004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308592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610344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912096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213848" y="32004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515600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817352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119104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420855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498079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99831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01583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403336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05088" y="36576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006840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308592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610344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912096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213848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515600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817352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119104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420855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498079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799831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101583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403336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705088" y="4114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006840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308592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610344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912096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13848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515600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817352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119104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0855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98079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799831" y="4572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101583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403336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705088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006840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308592" y="4572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610344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912096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213848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515600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817352" y="4572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119104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420855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498079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799831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101583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403336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705088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006840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308592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610344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912096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213848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515600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817352" y="5029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119104" y="5029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20855" y="5029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Six ideas, each builds on the last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F3D3E"/>
                </a:solidFill>
                <a:latin typeface="Cambria"/>
              </a:rPr>
              <a:t>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How likely, and the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373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79" y="1965960"/>
            <a:ext cx="502920" cy="50292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65176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F3D3E"/>
                </a:solidFill>
                <a:latin typeface="Cambria"/>
              </a:rPr>
              <a:t>Conditional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1089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Probability once we know something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373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19" y="1965960"/>
            <a:ext cx="502920" cy="50292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5176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F3D3E"/>
                </a:solidFill>
                <a:latin typeface="Cambria"/>
              </a:rPr>
              <a:t>Independence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10896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When knowing B changes nothing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F3D3E"/>
                </a:solidFill>
                <a:latin typeface="Cambria"/>
              </a:rPr>
              <a:t>Bayes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Updating beliefs with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977639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6279" y="4206240"/>
            <a:ext cx="502920" cy="50292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79" y="4206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8920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F3D3E"/>
                </a:solidFill>
                <a:latin typeface="Cambria"/>
              </a:rPr>
              <a:t>Random variables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Turning outcomes into numbers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977639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75319" y="4206240"/>
            <a:ext cx="502920" cy="50292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4206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8920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F3D3E"/>
                </a:solidFill>
                <a:latin typeface="Cambria"/>
              </a:rPr>
              <a:t>Distributions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Named patterns you can reuse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1 ·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Probability = what the proportion settles to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76656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645920"/>
            <a:ext cx="39593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828800"/>
            <a:ext cx="3502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Classical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267712"/>
            <a:ext cx="350215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Favourable ÷ all equally likely.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Fair die: P(6) = 1/6.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886200"/>
            <a:ext cx="395935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4069080"/>
            <a:ext cx="3502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36B00"/>
                </a:solidFill>
                <a:latin typeface="Cambria"/>
              </a:rPr>
              <a:t>Long-run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4507992"/>
            <a:ext cx="35021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Short runs are wild, long runs settle near 0.5.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Past flips don’t change the next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1 ·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Count the ways: two dice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4008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645920"/>
            <a:ext cx="432511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82880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Addition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267712"/>
            <a:ext cx="38679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P(A or B) = P(A) + P(B) − P(A and B)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Subtract the overlap so it isn’t counted twice.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023360"/>
            <a:ext cx="432511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420624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36B00"/>
                </a:solidFill>
                <a:latin typeface="Cambria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645152"/>
            <a:ext cx="3867912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A: first die is 6 (6/36)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B: total ≥ 10 (6/36), overlap 3/36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P(A or B) = 9/36 = 0.25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2 · CONDITIONAL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P(A | B): shrink the world to 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852160" cy="118872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P(A | B) = P(A and B) / P(B)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15468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59436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7302F"/>
                          </a:solidFill>
                          <a:latin typeface="Calibri"/>
                        </a:rPr>
                        <a:t>Study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7302F"/>
                          </a:solidFill>
                          <a:latin typeface="Calibri"/>
                        </a:rPr>
                        <a:t>No group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7302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66560" y="1645920"/>
            <a:ext cx="487375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Overall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267712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7302F"/>
                </a:solidFill>
                <a:latin typeface="Calibri"/>
              </a:rPr>
              <a:t>P(pass) = 270 / 400 = 0.675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154680"/>
            <a:ext cx="487375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333756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Given a study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776472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7302F"/>
                </a:solidFill>
                <a:latin typeface="Calibri"/>
              </a:rPr>
              <a:t>P(pass | group) = 120 / 150 = 0.80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4663440"/>
            <a:ext cx="487375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484632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Given no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5285231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7302F"/>
                </a:solidFill>
                <a:latin typeface="Calibri"/>
              </a:rPr>
              <a:t>P(pass | no group) = 150 / 250 = 0.60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2 · CONDITIONAL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P(A | B) is not P(B | 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F3D3E"/>
                </a:solidFill>
                <a:latin typeface="Cambria"/>
              </a:rPr>
              <a:t>Of study-group students…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231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1F7A78"/>
                </a:solidFill>
                <a:latin typeface="Cambria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6576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passed.   P(pass | group) = 120 /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F3D3E"/>
                </a:solidFill>
                <a:latin typeface="Cambria"/>
              </a:rPr>
              <a:t>Of students who passed…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4231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C8453F"/>
                </a:solidFill>
                <a:latin typeface="Cambria"/>
              </a:rPr>
              <a:t>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36576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were in a study group.   P(group | pass) = 120 / 270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Same table, different denominators. Always say which one is “given”.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3 ·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Does knowing B change the chance of 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Independent ⇔ P(A and B) = P(A) × P(B)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Dice: first die even, total is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30752"/>
            <a:ext cx="5029200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P(A) = 1/2     P(B) = 1/6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P(A) × P(B) = 1/12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P(A and B) = 3/36 = 1/12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Equal → independent 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64592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36B00"/>
                </a:solidFill>
                <a:latin typeface="Cambria"/>
              </a:rPr>
              <a:t>Cards: ace after 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267712"/>
            <a:ext cx="484632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With replacement: 4/52 = 0.077 → independent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Without: 3/51 = 0.059 → dependent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4069080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42519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Exclusive ≠ independent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690872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“First die is 1” and “first die is 6” can’t both happen.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Knowing one tells you a lot about the other.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4 · BAYES'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A positive test: how worried should you 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C6F6E"/>
                </a:solidFill>
                <a:latin typeface="Calibri"/>
              </a:rPr>
              <a:t>10,000 people · 1% sick · test catches 95% of sick people · 5% false alarms on healthy people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E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7A78"/>
                </a:solidFill>
                <a:latin typeface="Cambria"/>
              </a:rPr>
              <a:t>100 sick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F3D3E"/>
                </a:solidFill>
                <a:latin typeface="Calibri"/>
              </a:rPr>
              <a:t>95 test positive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9456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331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C8453F"/>
                </a:solidFill>
                <a:latin typeface="Cambria"/>
              </a:rPr>
              <a:t>9,900 healthy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01752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F3D3E"/>
                </a:solidFill>
                <a:latin typeface="Calibri"/>
              </a:rPr>
              <a:t>495 test 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4320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5C6F6E"/>
                </a:solidFill>
                <a:latin typeface="Calibr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889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2A541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94560"/>
            <a:ext cx="3410712" cy="201168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FE5E1"/>
                </a:solidFill>
                <a:latin typeface="Calibri"/>
              </a:rPr>
              <a:t>590 positives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8346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F2A541"/>
                </a:solidFill>
                <a:latin typeface="Cambria"/>
              </a:rPr>
              <a:t>16.1%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of them are really sick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1109167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3D3E"/>
                </a:solidFill>
                <a:latin typeface="Cambria"/>
              </a:rPr>
              <a:t>The healthy group is 99× bigger, so a small false-alarm rate still produces far more false alarms (495) than real cases (95).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4 · BAYES'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Same test, different base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949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P(H | E) = P(E | H) · P(H) / P(E)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Prior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20040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P(sick) = 0.01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77639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Likelihoods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93192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0.95 if sick, 0.05 if healthy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709159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091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634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Total P(+)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6634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0.95·0.01 + 0.05·0.99 = 0.059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440680"/>
            <a:ext cx="411480" cy="4114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9496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Divide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39496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0.0095 / 0.059 = 0.161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309360" y="1554480"/>
          <a:ext cx="5330952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4 · BAYES'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Evidence accumulates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 i="0">
                <a:solidFill>
                  <a:srgbClr val="5C6F6E"/>
                </a:solidFill>
                <a:latin typeface="Cambria"/>
              </a:rPr>
              <a:t>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47472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before any test (prior)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59" y="27432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F2A541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96596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 i="0">
                <a:solidFill>
                  <a:srgbClr val="1F7A78"/>
                </a:solidFill>
                <a:latin typeface="Cambria"/>
              </a:rPr>
              <a:t>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347472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after one positive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432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F2A541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3736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 i="0">
                <a:solidFill>
                  <a:srgbClr val="C8453F"/>
                </a:solidFill>
                <a:latin typeface="Cambria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7472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after two independent positives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4632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Yesterday’s posterior is today’s prior. That is how spam filters and diagnosis systems learn.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5 · RANDOM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X = days until delivery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51206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pmf: the probabilities add up to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60527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828800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Expected value (long-run average)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67712"/>
            <a:ext cx="5148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7302F"/>
                </a:solidFill>
                <a:latin typeface="Calibri"/>
              </a:rPr>
              <a:t>E[X] = 1(0.5) + 2(0.3) + 3(0.2) = 1.7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383280"/>
            <a:ext cx="560527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566160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36B00"/>
                </a:solidFill>
                <a:latin typeface="Cambria"/>
              </a:rPr>
              <a:t>Variance and 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005072"/>
            <a:ext cx="5148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Var(X) = Σ (x − E[X])² · P(x) = 0.61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SD = 0.78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5120640"/>
            <a:ext cx="560527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5303520"/>
            <a:ext cx="5148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742431"/>
            <a:ext cx="5148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the most likely value, nor one you must see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5 · RANDOM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Transforming X: what happens to E and Var?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7A78"/>
                </a:solidFill>
                <a:latin typeface="Cambria"/>
              </a:rPr>
              <a:t>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68580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F3D3E"/>
                </a:solidFill>
                <a:latin typeface="Cambria"/>
              </a:rPr>
              <a:t>E[aX + b] = a·E[X] +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B36B00"/>
                </a:solidFill>
                <a:latin typeface="Cambria"/>
              </a:rPr>
              <a:t>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68580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F3D3E"/>
                </a:solidFill>
                <a:latin typeface="Cambria"/>
              </a:rPr>
              <a:t>Var(aX + b) = a² · Var(X)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09160"/>
            <a:ext cx="1109167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36576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C8453F"/>
                </a:solidFill>
                <a:latin typeface="Cambria"/>
              </a:rPr>
              <a:t>Example: cost = 5 + 2X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709160"/>
            <a:ext cx="68580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F3D3E"/>
                </a:solidFill>
                <a:latin typeface="Cambria"/>
              </a:rPr>
              <a:t>E = 5 + 2(1.7) = 8.4      Var = 4 × 0.61 = 2.44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Adding a constant shifts the mean but doesn’t change the spread. Multiplying by a scales the spread by a².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6 ·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Binomial: successes out of n tries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4008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645920"/>
            <a:ext cx="432511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82880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Use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267712"/>
            <a:ext cx="38679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Fixed n, yes/no each time,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same p, independent.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749039"/>
            <a:ext cx="432511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393192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“At least 5”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370831"/>
            <a:ext cx="386791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cdf(4) = P(X ≤ 4)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P(X ≥ 5) = 1 − cdf(4) = 0.150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Not 1 − cdf(5)!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6 ·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Poisson: events in a window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4008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645920"/>
            <a:ext cx="432511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82880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Use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267712"/>
            <a:ext cx="38679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Random events, steady average rate,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counted in a fixed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749039"/>
            <a:ext cx="432511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393192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36B00"/>
                </a:solidFill>
                <a:latin typeface="Cambria"/>
              </a:rPr>
              <a:t>Signature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370831"/>
            <a:ext cx="386791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mean = variance = λ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P(no emails) = e⁻³ = 0.050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No fixed n, no maximum.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6 ·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Normal: area under the curve is probability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4008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645920"/>
          <a:ext cx="43251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556"/>
                <a:gridCol w="2162556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Within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02F"/>
                          </a:solidFill>
                          <a:latin typeface="Calibri"/>
                        </a:rPr>
                        <a:t>1 SD  (162–178)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02F"/>
                          </a:solidFill>
                          <a:latin typeface="Calibri"/>
                        </a:rPr>
                        <a:t>≈ 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02F"/>
                          </a:solidFill>
                          <a:latin typeface="Calibri"/>
                        </a:rPr>
                        <a:t>2 SD  (154–186)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02F"/>
                          </a:solidFill>
                          <a:latin typeface="Calibri"/>
                        </a:rPr>
                        <a:t>≈ 95%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02F"/>
                          </a:solidFill>
                          <a:latin typeface="Calibri"/>
                        </a:rPr>
                        <a:t>3 SD  (146–194)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02F"/>
                          </a:solidFill>
                          <a:latin typeface="Calibri"/>
                        </a:rPr>
                        <a:t>≈ 99.7%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3749039"/>
            <a:ext cx="432511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393192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36B00"/>
                </a:solidFill>
                <a:latin typeface="Cambria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370831"/>
            <a:ext cx="386791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z = (185 − 170) / 8 = 1.88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P(X &gt; 185) = 1 − cdf = 0.030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ppf(0.95) = 183.2 cm (top 5%)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6 ·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Central Limit Theorem: averages become bell-shaped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76656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645920"/>
            <a:ext cx="39593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828800"/>
            <a:ext cx="3502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The 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267712"/>
            <a:ext cx="3502152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Strongly skewed (Exponential).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Mean 1, SD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069080"/>
            <a:ext cx="3959352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4251960"/>
            <a:ext cx="3502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36B00"/>
                </a:solidFill>
                <a:latin typeface="Cambria"/>
              </a:rPr>
              <a:t>The average of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4690872"/>
            <a:ext cx="35021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Bell-shaped, centred on 1.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SD = σ/√n = 0.18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Which distribution?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167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3200400"/>
                <a:gridCol w="1947672"/>
              </a:tblGrid>
              <a:tr h="7162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One yes/no 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7A78"/>
                          </a:solidFill>
                          <a:latin typeface="Calibri"/>
                        </a:rPr>
                        <a:t>Bernoulli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Successes in n independent trials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7A78"/>
                          </a:solidFill>
                          <a:latin typeface="Calibri"/>
                        </a:rPr>
                        <a:t>Binomial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n, p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Events in a fixed time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7A78"/>
                          </a:solidFill>
                          <a:latin typeface="Calibri"/>
                        </a:rPr>
                        <a:t>Poisson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Measurements around a mean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7A78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μ, σ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Average of many draws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F7A78"/>
                          </a:solidFill>
                          <a:latin typeface="Calibri"/>
                        </a:rPr>
                        <a:t>≈ Normal (CLT)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02F"/>
                          </a:solidFill>
                          <a:latin typeface="Calibri"/>
                        </a:rPr>
                        <a:t>μ, σ/√n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Five mistakes to avoid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830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56692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“P(A|B) is the same as P(B|A).”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600200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7A78"/>
                </a:solidFill>
                <a:latin typeface="Calibri"/>
              </a:rPr>
              <a:t>Different denominators. Say which is “given”.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6974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14600"/>
            <a:ext cx="56692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“Exclusive events are independent.”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514600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7A78"/>
                </a:solidFill>
                <a:latin typeface="Calibri"/>
              </a:rPr>
              <a:t>If A happens, B can’t. That is dependence.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6118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29000"/>
            <a:ext cx="56692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“The test is 95% accurate, so I’m 95% likely sick.”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429000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7A78"/>
                </a:solidFill>
                <a:latin typeface="Calibri"/>
              </a:rPr>
              <a:t>Include the base 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5262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43400"/>
            <a:ext cx="56692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“At least 5” = 1 − cdf(5).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343400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7A78"/>
                </a:solidFill>
                <a:latin typeface="Calibri"/>
              </a:rPr>
              <a:t>It is 1 − cdf(4).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4406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57800"/>
            <a:ext cx="56692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“Tails is due after five heads.”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257800"/>
            <a:ext cx="4297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7A78"/>
                </a:solidFill>
                <a:latin typeface="Calibri"/>
              </a:rPr>
              <a:t>The coin has no memory.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A541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Learn it, then use AI to check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E5E1"/>
                </a:solidFill>
                <a:latin typeface="Calibri"/>
              </a:rPr>
              <a:t>Say what’s given and asked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3736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71800" y="19202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606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0896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E5E1"/>
                </a:solidFill>
                <a:latin typeface="Calibri"/>
              </a:rPr>
              <a:t>Give all numbers, ask for assumptions +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73736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2080" y="19202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06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0896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E5E1"/>
                </a:solidFill>
                <a:latin typeface="Calibri"/>
              </a:rPr>
              <a:t>Run the code yourself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73736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52360" y="19202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606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10896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E5E1"/>
                </a:solidFill>
                <a:latin typeface="Calibri"/>
              </a:rPr>
              <a:t>Simulate or use a second method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737360"/>
            <a:ext cx="2103120" cy="2651760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1920240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6060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Reflect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10896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E5E1"/>
                </a:solidFill>
                <a:latin typeface="Calibri"/>
              </a:rPr>
              <a:t>Log what AI got right or wrong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75488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You are accountable for the answer, not the AI. Never trust a number you haven’t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