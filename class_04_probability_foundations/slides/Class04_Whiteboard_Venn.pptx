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IT: 1) a big rectangle and write 'all 36 outcomes (sample space)' in a corner. 2) a circle inside it, label it A = 'first die is 6'. 3) write 6 inside the circle and 30 outside.</a:t>
            </a:r>
          </a:p>
          <a:p>
            <a:r>
              <a:t>SAY: 'The rectangle is everything that can happen. The circle is the event we care about. Probability is how much of the rectangle the circle covers: part divided by whole.'</a:t>
            </a:r>
          </a:p>
          <a:p>
            <a:r>
              <a:t>ASK: 'What is the probability of NOT A?' (30/36 = 1 - 1/6.)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IT: rectangle, two overlapping circles A and B. Write 3 in the left part, 3 in the middle (overlap), 3 in the right part, and 27 outside.</a:t>
            </a:r>
          </a:p>
          <a:p>
            <a:r>
              <a:t>SAY: 'A is first die is 6: 6 outcomes. B is total at least 10: 6 outcomes. But 3 outcomes are in both, (6,4), (6,5), (6,6). If I just add 6 + 6 I count the middle twice, so I subtract it once.'</a:t>
            </a:r>
          </a:p>
          <a:p>
            <a:r>
              <a:t>CHECK: 3 + 3 + 3 = 9 outcomes inside either circle; 9/36 = 0.25.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IT: rectangle (400 students), circle G = study group (150), circle P = passed (270). Overlap 120. G-only 30. P-only 150. Outside 100.</a:t>
            </a:r>
          </a:p>
          <a:p>
            <a:r>
              <a:t>SAY: 'Given means: ignore everything outside the circle you are told about. If I know you are in the study group, the world is just circle G, 150 students, and 120 of them passed: 120/150.'</a:t>
            </a:r>
          </a:p>
          <a:p>
            <a:r>
              <a:t>THEN: 'Flip it. Given you passed, the world is circle P, 270 students, and 120 are in a group: 120/270. Same overlap on top, different circle on the bottom.'</a:t>
            </a:r>
          </a:p>
          <a:p>
            <a:r>
              <a:t>That is why P(A|B) is not P(B|A).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IT: a square. Split it down the middle: left half is A (first die even, 1/2). Draw a thin strip along the bottom, 1/6 of the height: that is B (total is 7, 1/6). Where they cross is A and B.</a:t>
            </a:r>
          </a:p>
          <a:p>
            <a:r>
              <a:t>SAY: 'If A and B are independent, B takes up the same fraction of A as it does of the whole square. The bottom strip is 1/6 of the whole square and 1/6 of the left half too. So the crossing area is 1/2 x 1/6 = 1/12. That is exactly what we computed: 3/36.'</a:t>
            </a:r>
          </a:p>
          <a:p>
            <a:r>
              <a:t>CONTRAST: 'Exclusive events are two circles that don't touch. P(A and B) = 0. That is not P(A) x P(B), so exclusive events are dependent.'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DRAW IT: a rectangle for 10,000 people. A small circle S = sick (100 people). A big circle + = tests positive (590 people), overlapping S almost completely. Write 95 in the overlap, 5 in the sliver of S outside +, 495 in the part of + outside S, 9,405 outside both. (Not to scale: say so.)</a:t>
            </a:r>
          </a:p>
          <a:p>
            <a:r>
              <a:t>SAY: 'You tested positive, so you are somewhere inside the + circle. 590 people are in that circle. How many of them are sick? 95. So 95 out of 590, 16%. The 495 are healthy people the test falsely alarmed. The healthy population is huge, so even a 5% false-alarm rate fills the + circle with healthy people.'</a:t>
            </a:r>
          </a:p>
          <a:p>
            <a:r>
              <a:t>KEY: the denominator is the WHOLE positive circle, not the sick circle.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as a one-page summary at the end, or leave it on screen while students work on the tasks. Ask them to point at which Venn picture each formula came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WHITEBOARD 1 · SAMPLE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The rectangle is everything that can happen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6035040" cy="4480560"/>
          </a:xfrm>
          <a:prstGeom prst="rect">
            <a:avLst/>
          </a:prstGeom>
          <a:noFill/>
          <a:ln w="38100">
            <a:solidFill>
              <a:srgbClr val="0F3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C6F6E"/>
                </a:solidFill>
                <a:latin typeface="Calibri"/>
              </a:rPr>
              <a:t>all 36 outcomes of two dice (sample space)</a:t>
            </a:r>
          </a:p>
        </p:txBody>
      </p:sp>
      <p:sp>
        <p:nvSpPr>
          <p:cNvPr id="6" name="Oval 5"/>
          <p:cNvSpPr/>
          <p:nvPr/>
        </p:nvSpPr>
        <p:spPr>
          <a:xfrm>
            <a:off x="2377439" y="2697480"/>
            <a:ext cx="2377440" cy="2377440"/>
          </a:xfrm>
          <a:prstGeom prst="ellipse">
            <a:avLst/>
          </a:prstGeom>
          <a:solidFill>
            <a:srgbClr val="1F7A78">
              <a:alpha val="35000"/>
            </a:srgbClr>
          </a:solidFill>
          <a:ln w="50800">
            <a:solidFill>
              <a:srgbClr val="1F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39" y="32918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1F7A78"/>
                </a:solidFill>
                <a:latin typeface="Calibr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39" y="388620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F3D3E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212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0">
                <a:solidFill>
                  <a:srgbClr val="1F7A78"/>
                </a:solidFill>
                <a:latin typeface="Calibri"/>
              </a:rPr>
              <a:t>first die is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949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 i="0">
                <a:solidFill>
                  <a:srgbClr val="5C6F6E"/>
                </a:solidFill>
                <a:latin typeface="Calibri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10312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5C6F6E"/>
                </a:solidFill>
                <a:latin typeface="Calibri"/>
              </a:rPr>
              <a:t>not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645920"/>
            <a:ext cx="4690872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18288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mbria"/>
              </a:rPr>
              <a:t>The maths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377440"/>
            <a:ext cx="420624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0F3D3E"/>
                </a:solidFill>
                <a:latin typeface="Cambria"/>
              </a:rPr>
              <a:t>P(A) = part ÷ whole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= 6 / 36 = 1/6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0F3D3E"/>
                </a:solidFill>
                <a:latin typeface="Cambria"/>
              </a:rPr>
              <a:t>P(not A) = 1 − P(A)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= 1 − 1/6 = 30/36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All outcomes together always add up to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WHITEBOARD 2 · ADDITION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A or B: don’t count the overlap twice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6035040" cy="4480560"/>
          </a:xfrm>
          <a:prstGeom prst="rect">
            <a:avLst/>
          </a:prstGeom>
          <a:noFill/>
          <a:ln w="38100">
            <a:solidFill>
              <a:srgbClr val="0F3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80160" y="2468880"/>
            <a:ext cx="2743200" cy="2743200"/>
          </a:xfrm>
          <a:prstGeom prst="ellipse">
            <a:avLst/>
          </a:prstGeom>
          <a:solidFill>
            <a:srgbClr val="1F7A78">
              <a:alpha val="35000"/>
            </a:srgbClr>
          </a:solidFill>
          <a:ln w="50800">
            <a:solidFill>
              <a:srgbClr val="1F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08960" y="2468880"/>
            <a:ext cx="2743200" cy="2743200"/>
          </a:xfrm>
          <a:prstGeom prst="ellipse">
            <a:avLst/>
          </a:prstGeom>
          <a:solidFill>
            <a:srgbClr val="E08A00">
              <a:alpha val="35000"/>
            </a:srgbClr>
          </a:solidFill>
          <a:ln w="50800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5661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F3D3E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39" y="35661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F3D3E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56616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F3D3E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59" y="544068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5C6F6E"/>
                </a:solidFill>
                <a:latin typeface="Calibri"/>
              </a:rPr>
              <a:t>27 outside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28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libri"/>
              </a:rPr>
              <a:t>A: first die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82880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E08A00"/>
                </a:solidFill>
                <a:latin typeface="Calibri"/>
              </a:rPr>
              <a:t>B: total ≥ 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645920"/>
            <a:ext cx="4690872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8288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mbria"/>
              </a:rPr>
              <a:t>The maths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377440"/>
            <a:ext cx="420624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0F3D3E"/>
                </a:solidFill>
                <a:latin typeface="Cambria"/>
              </a:rPr>
              <a:t>P(A or B) = P(A) + P(B) − P(A and B)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P(A) = 6/36      P(B) = 6/36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P(A and B) = 3/36  (the overlap)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7A78"/>
                </a:solidFill>
                <a:latin typeface="Cambria"/>
              </a:rPr>
              <a:t>= 6/36 + 6/36 − 3/36 = 9/36 = 0.25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Check: 3 + 3 + 3 = 9 outcomes inside either circle.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WHITEBOARD 3 · CONDITIONAL PROBABILITY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‘Given’ means: shrink the world to one circle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6035040" cy="4480560"/>
          </a:xfrm>
          <a:prstGeom prst="rect">
            <a:avLst/>
          </a:prstGeom>
          <a:noFill/>
          <a:ln w="38100">
            <a:solidFill>
              <a:srgbClr val="0F3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08760" y="2560320"/>
            <a:ext cx="2651760" cy="2651760"/>
          </a:xfrm>
          <a:prstGeom prst="ellipse">
            <a:avLst/>
          </a:prstGeom>
          <a:solidFill>
            <a:srgbClr val="1F7A78">
              <a:alpha val="35000"/>
            </a:srgbClr>
          </a:solidFill>
          <a:ln w="50800">
            <a:solidFill>
              <a:srgbClr val="1F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926080" y="2331720"/>
            <a:ext cx="3108960" cy="3108960"/>
          </a:xfrm>
          <a:prstGeom prst="ellipse">
            <a:avLst/>
          </a:prstGeom>
          <a:solidFill>
            <a:srgbClr val="E08A00">
              <a:alpha val="35000"/>
            </a:srgbClr>
          </a:solidFill>
          <a:ln w="50800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61188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F3D3E"/>
                </a:solidFill>
                <a:latin typeface="Calibr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611880"/>
            <a:ext cx="1280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F3D3E"/>
                </a:solidFill>
                <a:latin typeface="Calibri"/>
              </a:rPr>
              <a:t>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361188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F3D3E"/>
                </a:solidFill>
                <a:latin typeface="Calibri"/>
              </a:rPr>
              <a:t>150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19" y="54864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5C6F6E"/>
                </a:solidFill>
                <a:latin typeface="Calibri"/>
              </a:rPr>
              <a:t>100 outside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7830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F7A78"/>
                </a:solidFill>
                <a:latin typeface="Calibri"/>
              </a:rPr>
              <a:t>G: study group (150)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7830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E08A00"/>
                </a:solidFill>
                <a:latin typeface="Calibri"/>
              </a:rPr>
              <a:t>P: passed (270)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645920"/>
            <a:ext cx="4690872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18288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mbria"/>
              </a:rPr>
              <a:t>The maths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377440"/>
            <a:ext cx="420624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0F3D3E"/>
                </a:solidFill>
                <a:latin typeface="Cambria"/>
              </a:rPr>
              <a:t>P(A | B) = P(A and B) / P(B)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Given group: world = circle G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7A78"/>
                </a:solidFill>
                <a:latin typeface="Cambria"/>
              </a:rPr>
              <a:t>P(pass | group) = 120/150 = 0.80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Given pass: world = circle P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C8453F"/>
                </a:solidFill>
                <a:latin typeface="Cambria"/>
              </a:rPr>
              <a:t>P(group | pass) = 120/270 = 0.44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Same top (120), different bottom.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WHITEBOARD 4 · INDEPENDENCE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Overlap = width × height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6035040" cy="4480560"/>
          </a:xfrm>
          <a:prstGeom prst="rect">
            <a:avLst/>
          </a:prstGeom>
          <a:noFill/>
          <a:ln w="38100">
            <a:solidFill>
              <a:srgbClr val="0F3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3017520" cy="4480560"/>
          </a:xfrm>
          <a:prstGeom prst="rect">
            <a:avLst/>
          </a:prstGeom>
          <a:solidFill>
            <a:srgbClr val="1F7A78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376672"/>
            <a:ext cx="6035040" cy="749808"/>
          </a:xfrm>
          <a:prstGeom prst="rect">
            <a:avLst/>
          </a:prstGeom>
          <a:solidFill>
            <a:srgbClr val="E08A00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1F7A78"/>
                </a:solidFill>
                <a:latin typeface="Calibri"/>
              </a:rPr>
              <a:t>A: first die even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3756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F7A78"/>
                </a:solidFill>
                <a:latin typeface="Calibri"/>
              </a:rPr>
              <a:t>width 1/2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56616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E08A00"/>
                </a:solidFill>
                <a:latin typeface="Calibri"/>
              </a:rPr>
              <a:t>B: total is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0690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E08A00"/>
                </a:solidFill>
                <a:latin typeface="Calibri"/>
              </a:rPr>
              <a:t>height 1/6 (bottom strip)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4864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0F3D3E"/>
                </a:solidFill>
                <a:latin typeface="Calibri"/>
              </a:rPr>
              <a:t>A and B = 1/12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645920"/>
            <a:ext cx="4690872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18288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mbria"/>
              </a:rPr>
              <a:t>The maths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377440"/>
            <a:ext cx="420624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0F3D3E"/>
                </a:solidFill>
                <a:latin typeface="Cambria"/>
              </a:rPr>
              <a:t>Independent ⇔ P(A and B) = P(A)·P(B)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P(A) = 1/2      P(B) = 1/6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P(A) × P(B) = 1/12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7A78"/>
                </a:solidFill>
                <a:latin typeface="Cambria"/>
              </a:rPr>
              <a:t>P(A and B) = 3/36 = 1/12  ✅ equal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Exclusive events (circles that don’t touch): P(A and B) = 0, which is NOT P(A)·P(B). So they are dependent.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WHITEBOARD 5 · BAYES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You tested positive: which circle are you in?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6035040" cy="4480560"/>
          </a:xfrm>
          <a:prstGeom prst="rect">
            <a:avLst/>
          </a:prstGeom>
          <a:noFill/>
          <a:ln w="38100">
            <a:solidFill>
              <a:srgbClr val="0F3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C6F6E"/>
                </a:solidFill>
                <a:latin typeface="Calibri"/>
              </a:rPr>
              <a:t>10,000 people (not to scale)</a:t>
            </a:r>
          </a:p>
        </p:txBody>
      </p:sp>
      <p:sp>
        <p:nvSpPr>
          <p:cNvPr id="6" name="Oval 5"/>
          <p:cNvSpPr/>
          <p:nvPr/>
        </p:nvSpPr>
        <p:spPr>
          <a:xfrm>
            <a:off x="2468880" y="3063239"/>
            <a:ext cx="1737360" cy="1737360"/>
          </a:xfrm>
          <a:prstGeom prst="ellipse">
            <a:avLst/>
          </a:prstGeom>
          <a:solidFill>
            <a:srgbClr val="1F7A78">
              <a:alpha val="40000"/>
            </a:srgbClr>
          </a:solidFill>
          <a:ln w="50800">
            <a:solidFill>
              <a:srgbClr val="1F7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26080" y="2240280"/>
            <a:ext cx="3291840" cy="3291840"/>
          </a:xfrm>
          <a:prstGeom prst="ellipse">
            <a:avLst/>
          </a:prstGeom>
          <a:solidFill>
            <a:srgbClr val="E08A00">
              <a:alpha val="30000"/>
            </a:srgbClr>
          </a:solidFill>
          <a:ln w="50800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3657600"/>
            <a:ext cx="731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0F3D3E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65760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F3D3E"/>
                </a:solidFill>
                <a:latin typeface="Calibri"/>
              </a:rPr>
              <a:t>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3611880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0F3D3E"/>
                </a:solidFill>
                <a:latin typeface="Calibri"/>
              </a:rPr>
              <a:t>495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48640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5C6F6E"/>
                </a:solidFill>
                <a:latin typeface="Calibri"/>
              </a:rPr>
              <a:t>9,405 outside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4884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libri"/>
              </a:rPr>
              <a:t>S: sick (100)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8288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E08A00"/>
                </a:solidFill>
                <a:latin typeface="Calibri"/>
              </a:rPr>
              <a:t>+ : tests positive (590)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645920"/>
            <a:ext cx="4690872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8288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7A78"/>
                </a:solidFill>
                <a:latin typeface="Cambria"/>
              </a:rPr>
              <a:t>The maths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377440"/>
            <a:ext cx="420624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900" b="1" i="0">
                <a:solidFill>
                  <a:srgbClr val="0F3D3E"/>
                </a:solidFill>
                <a:latin typeface="Cambria"/>
              </a:rPr>
              <a:t>P(sick | +) = P(+ | sick) · P(sick) / P(+)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Count version: inside the + circle,</a:t>
            </a:r>
          </a:p>
          <a:p>
            <a:pPr algn="l">
              <a:spcAft>
                <a:spcPts val="1000"/>
              </a:spcAft>
            </a:pPr>
            <a:r>
              <a:rPr sz="2000" b="1" i="0">
                <a:solidFill>
                  <a:srgbClr val="1F7A78"/>
                </a:solidFill>
                <a:latin typeface="Cambria"/>
              </a:rPr>
              <a:t>95 sick out of 95 + 495 = 590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C8453F"/>
                </a:solidFill>
                <a:latin typeface="Cambria"/>
              </a:rPr>
              <a:t>= 95 / 590 = 0.161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Formula version: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0.95 × 0.01 = 0.0095 (true +)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0.05 × 0.99 = 0.0495 (false +)</a:t>
            </a:r>
          </a:p>
          <a:p>
            <a:pPr algn="l">
              <a:spcAft>
                <a:spcPts val="1000"/>
              </a:spcAft>
            </a:pPr>
            <a:r>
              <a:rPr sz="1700" b="0" i="0">
                <a:solidFill>
                  <a:srgbClr val="17302F"/>
                </a:solidFill>
                <a:latin typeface="Calibri"/>
              </a:rPr>
              <a:t>0.0095 / (0.0095 + 0.0495) = 0.161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F7A78"/>
                </a:solidFill>
                <a:latin typeface="Calibri"/>
              </a:rPr>
              <a:t>WHITEBOARD 6 · ALL THE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F3D3E"/>
                </a:solidFill>
                <a:latin typeface="Cambria"/>
              </a:rPr>
              <a:t>Everything on one page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1109167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82712"/>
              </a:tblGrid>
              <a:tr h="5080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F7A78"/>
                          </a:solidFill>
                          <a:latin typeface="Calibri"/>
                        </a:rPr>
                        <a:t>Complement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7302F"/>
                          </a:solidFill>
                          <a:latin typeface="Cambria"/>
                        </a:rPr>
                        <a:t>P(not A) = 1 − P(A)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F7A78"/>
                          </a:solidFill>
                          <a:latin typeface="Calibri"/>
                        </a:rPr>
                        <a:t>Addition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7302F"/>
                          </a:solidFill>
                          <a:latin typeface="Cambria"/>
                        </a:rPr>
                        <a:t>P(A or B) = P(A) + P(B) − P(A and B)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F7A78"/>
                          </a:solidFill>
                          <a:latin typeface="Calibri"/>
                        </a:rPr>
                        <a:t>Conditional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7302F"/>
                          </a:solidFill>
                          <a:latin typeface="Cambria"/>
                        </a:rPr>
                        <a:t>P(A | B) = P(A and B) / P(B)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F7A78"/>
                          </a:solidFill>
                          <a:latin typeface="Calibri"/>
                        </a:rPr>
                        <a:t>Multiplication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7302F"/>
                          </a:solidFill>
                          <a:latin typeface="Cambria"/>
                        </a:rPr>
                        <a:t>P(A and B) = P(A | B) · P(B)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F7A78"/>
                          </a:solidFill>
                          <a:latin typeface="Calibri"/>
                        </a:rPr>
                        <a:t>Independence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7302F"/>
                          </a:solidFill>
                          <a:latin typeface="Cambria"/>
                        </a:rPr>
                        <a:t>P(A and B) = P(A) · P(B)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F7A78"/>
                          </a:solidFill>
                          <a:latin typeface="Calibri"/>
                        </a:rPr>
                        <a:t>Total probability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7302F"/>
                          </a:solidFill>
                          <a:latin typeface="Cambria"/>
                        </a:rPr>
                        <a:t>P(E) = P(E | H) P(H) + P(E | not H) P(not H)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F7A78"/>
                          </a:solidFill>
                          <a:latin typeface="Calibri"/>
                        </a:rPr>
                        <a:t>Bayes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7302F"/>
                          </a:solidFill>
                          <a:latin typeface="Cambria"/>
                        </a:rPr>
                        <a:t>P(H | E) = P(E | H) · P(H) / P(E)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F7A78"/>
                          </a:solidFill>
                          <a:latin typeface="Calibri"/>
                        </a:rPr>
                        <a:t>Expected value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7302F"/>
                          </a:solidFill>
                          <a:latin typeface="Cambria"/>
                        </a:rPr>
                        <a:t>E[X] = Σ x · P(x)</a:t>
                      </a:r>
                    </a:p>
                  </a:txBody>
                  <a:tcPr>
                    <a:solidFill>
                      <a:srgbClr val="EEF4F2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900" b="1">
                          <a:solidFill>
                            <a:srgbClr val="1F7A78"/>
                          </a:solidFill>
                          <a:latin typeface="Calibri"/>
                        </a:rPr>
                        <a:t>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00" b="0">
                          <a:solidFill>
                            <a:srgbClr val="17302F"/>
                          </a:solidFill>
                          <a:latin typeface="Cambria"/>
                        </a:rPr>
                        <a:t>Var(X) = Σ (x − E[X])² · P(x)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